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of the study: does a score that ranks designs before the assay pick the designs that bind in the assay? Say that every name and number in this talk comes from one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four parts. First the need, then how the designs were scored and assayed, then three pieces of evidence. The last part gives the claims to keep. Read the message aloud once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round held ten designs. A hit means a binding signal of 50 au or more, read at 60 minutes in the Kestrel assay. Treat Round 1 as the starting point for every later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computed the score before the assay. The Mallard filter then dropped each design with a score below 4, so every design of the Heron set passed it and no score under 4 appears in the later figures. The Kestrel assay reads a plate every 10 minutes for 60 minutes. The signal of a design is the reading at the last time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is one round of ten designs, so the Heron set holds 40 designs. The study ran once, on one plate layout. Say that the rise is an observed change over rounds and does not isolate the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point is one design. The design with the highest score, 9.9, gave 60.3 au, so the top score is not the top signal. The best signal, 79.2 au, came at a score of 9.4. The plot shows a trend and does not show a cause. Scores below 4 are absent because of the Mallard filter.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target has 10 designed and 10 control peptides. These peptides do not belong to the Heron set. The designed set stands ahead on all five targets, and Target C shows the widest gap. State the caveat: the control peptides were not matched to the designed peptides for length.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pipeline, Filtered, cost 64 units per design. The notes of the study do not define a unit of cost, so define it aloud before you give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during questions. Say each claim in your own words and name its baseline. Mention the caveats of the study: it ran once, on one plate layout, and the control peptides were not matched for length.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someone asks whether peptide length drives the signal. The plot holds the same 40 designs as the score plot. Do not claim a trend from the two extremes.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FFFFF"/>
        </a:solidFill>
        <a:effectLst/>
      </p:bgPr>
    </p:bg>
    <p:spTree>
      <p:nvGrpSpPr>
        <p:cNvPr id="1" name=""/>
        <p:cNvGrpSpPr/>
        <p:nvPr/>
      </p:nvGrpSpPr>
      <p:grpSpPr/>
      <p:sp>
        <p:nvSpPr>
          <p:cNvPr id="2" name="Title"/>
          <p:cNvSpPr>
            <a:spLocks noGrp="1"/>
          </p:cNvSpPr>
          <p:nvPr>
            <p:ph type="title"/>
          </p:nvPr>
        </p:nvSpPr>
        <p:spPr>
          <a:xfrm>
            <a:off x="731520" y="1920240"/>
            <a:ext cx="10728655" cy="1737360"/>
          </a:xfrm>
        </p:spPr>
        <p:txBody>
          <a:bodyPr wrap="square" anchor="t" lIns="0" rIns="0" tIns="0" bIns="0">
            <a:noAutofit/>
          </a:bodyPr>
          <a:lstStyle/>
          <a:p>
            <a:pPr algn="l"/>
            <a:r>
              <a:rPr sz="4400" b="0">
                <a:solidFill>
                  <a:srgbClr val="111111"/>
                </a:solidFill>
                <a:latin typeface="Avenir Light"/>
              </a:rPr>
              <a:t>The Osprey score picks designs that bind Target T</a:t>
            </a:r>
          </a:p>
        </p:txBody>
      </p:sp>
      <p:sp>
        <p:nvSpPr>
          <p:cNvPr id="3" name="Accent mark"/>
          <p:cNvSpPr/>
          <p:nvPr/>
        </p:nvSpPr>
        <p:spPr>
          <a:xfrm>
            <a:off x="731520" y="3840480"/>
            <a:ext cx="1280160"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731520" y="4023360"/>
            <a:ext cx="10728655" cy="1097280"/>
          </a:xfrm>
          <a:prstGeom prst="rect">
            <a:avLst/>
          </a:prstGeom>
          <a:noFill/>
        </p:spPr>
        <p:txBody>
          <a:bodyPr wrap="square" anchor="t" lIns="0" rIns="0" tIns="0" bIns="0">
            <a:noAutofit/>
          </a:bodyPr>
          <a:lstStyle/>
          <a:p>
            <a:pPr algn="l"/>
            <a:r>
              <a:rPr sz="2000" b="0">
                <a:solidFill>
                  <a:srgbClr val="6B7280"/>
                </a:solidFill>
                <a:latin typeface="Avenir Light"/>
              </a:rPr>
              <a:t>A. Author</a:t>
            </a:r>
          </a:p>
          <a:p>
            <a:pPr algn="l"/>
            <a:r>
              <a:rPr sz="2000" b="0">
                <a:solidFill>
                  <a:srgbClr val="6B7280"/>
                </a:solidFill>
                <a:latin typeface="Avenir Light"/>
              </a:rPr>
              <a:t>Example Lab</a:t>
            </a:r>
          </a:p>
          <a:p>
            <a:pPr algn="l"/>
            <a:r>
              <a:rPr sz="2000" b="0">
                <a:solidFill>
                  <a:srgbClr val="6B7280"/>
                </a:solidFill>
                <a:latin typeface="Avenir Light"/>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roadma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Osprey score picked designs that bound Target T: the hit rate rose from 20 percent to 70 percent across four rounds.</a:t>
            </a:r>
          </a:p>
        </p:txBody>
      </p:sp>
      <p:sp>
        <p:nvSpPr>
          <p:cNvPr id="3" name="Section mark"/>
          <p:cNvSpPr/>
          <p:nvPr/>
        </p:nvSpPr>
        <p:spPr>
          <a:xfrm>
            <a:off x="731520"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 name"/>
          <p:cNvSpPr txBox="1"/>
          <p:nvPr/>
        </p:nvSpPr>
        <p:spPr>
          <a:xfrm>
            <a:off x="731520"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Need</a:t>
            </a:r>
          </a:p>
        </p:txBody>
      </p:sp>
      <p:sp>
        <p:nvSpPr>
          <p:cNvPr id="5" name="Section line"/>
          <p:cNvSpPr txBox="1"/>
          <p:nvPr/>
        </p:nvSpPr>
        <p:spPr>
          <a:xfrm>
            <a:off x="731520"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Round 1</a:t>
            </a:r>
          </a:p>
        </p:txBody>
      </p:sp>
      <p:sp>
        <p:nvSpPr>
          <p:cNvPr id="6" name="Section mark"/>
          <p:cNvSpPr/>
          <p:nvPr/>
        </p:nvSpPr>
        <p:spPr>
          <a:xfrm>
            <a:off x="3482263"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 name"/>
          <p:cNvSpPr txBox="1"/>
          <p:nvPr/>
        </p:nvSpPr>
        <p:spPr>
          <a:xfrm>
            <a:off x="3482263"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Approach</a:t>
            </a:r>
          </a:p>
        </p:txBody>
      </p:sp>
      <p:sp>
        <p:nvSpPr>
          <p:cNvPr id="8" name="Section line"/>
          <p:cNvSpPr txBox="1"/>
          <p:nvPr/>
        </p:nvSpPr>
        <p:spPr>
          <a:xfrm>
            <a:off x="3482263"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Score and assay</a:t>
            </a:r>
          </a:p>
        </p:txBody>
      </p:sp>
      <p:sp>
        <p:nvSpPr>
          <p:cNvPr id="9" name="Section mark"/>
          <p:cNvSpPr/>
          <p:nvPr/>
        </p:nvSpPr>
        <p:spPr>
          <a:xfrm>
            <a:off x="6233006"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ction name"/>
          <p:cNvSpPr txBox="1"/>
          <p:nvPr/>
        </p:nvSpPr>
        <p:spPr>
          <a:xfrm>
            <a:off x="6233006"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Evidence</a:t>
            </a:r>
          </a:p>
        </p:txBody>
      </p:sp>
      <p:sp>
        <p:nvSpPr>
          <p:cNvPr id="11" name="Section line"/>
          <p:cNvSpPr txBox="1"/>
          <p:nvPr/>
        </p:nvSpPr>
        <p:spPr>
          <a:xfrm>
            <a:off x="6233006"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Hits and cost</a:t>
            </a:r>
          </a:p>
        </p:txBody>
      </p:sp>
      <p:sp>
        <p:nvSpPr>
          <p:cNvPr id="12" name="Section mark"/>
          <p:cNvSpPr/>
          <p:nvPr/>
        </p:nvSpPr>
        <p:spPr>
          <a:xfrm>
            <a:off x="8983749"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ction name"/>
          <p:cNvSpPr txBox="1"/>
          <p:nvPr/>
        </p:nvSpPr>
        <p:spPr>
          <a:xfrm>
            <a:off x="8983749"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Take-homes</a:t>
            </a:r>
          </a:p>
        </p:txBody>
      </p:sp>
      <p:sp>
        <p:nvSpPr>
          <p:cNvPr id="14" name="Section line"/>
          <p:cNvSpPr txBox="1"/>
          <p:nvPr/>
        </p:nvSpPr>
        <p:spPr>
          <a:xfrm>
            <a:off x="8983749"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Three claims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big_number">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Only 20 percent of the designs in Round 1 bound Target T.</a:t>
            </a:r>
          </a:p>
        </p:txBody>
      </p:sp>
      <p:sp>
        <p:nvSpPr>
          <p:cNvPr id="3" name="Number"/>
          <p:cNvSpPr txBox="1"/>
          <p:nvPr/>
        </p:nvSpPr>
        <p:spPr>
          <a:xfrm>
            <a:off x="731520" y="1828800"/>
            <a:ext cx="4937760" cy="1554480"/>
          </a:xfrm>
          <a:prstGeom prst="rect">
            <a:avLst/>
          </a:prstGeom>
          <a:noFill/>
        </p:spPr>
        <p:txBody>
          <a:bodyPr wrap="square" anchor="t" lIns="0" rIns="0" tIns="0" bIns="0">
            <a:noAutofit/>
          </a:bodyPr>
          <a:lstStyle/>
          <a:p>
            <a:pPr algn="l"/>
            <a:r>
              <a:rPr sz="9600" b="0">
                <a:solidFill>
                  <a:srgbClr val="6D4BD6"/>
                </a:solidFill>
                <a:latin typeface="Avenir Light"/>
              </a:rPr>
              <a:t>20%</a:t>
            </a:r>
          </a:p>
        </p:txBody>
      </p:sp>
      <p:sp>
        <p:nvSpPr>
          <p:cNvPr id="4" name="Number label"/>
          <p:cNvSpPr txBox="1"/>
          <p:nvPr/>
        </p:nvSpPr>
        <p:spPr>
          <a:xfrm>
            <a:off x="731520" y="3383279"/>
            <a:ext cx="4937760" cy="640080"/>
          </a:xfrm>
          <a:prstGeom prst="rect">
            <a:avLst/>
          </a:prstGeom>
          <a:noFill/>
        </p:spPr>
        <p:txBody>
          <a:bodyPr wrap="square" anchor="t" lIns="0" rIns="0" tIns="0" bIns="0">
            <a:noAutofit/>
          </a:bodyPr>
          <a:lstStyle/>
          <a:p>
            <a:pPr algn="l"/>
            <a:r>
              <a:rPr sz="2400" b="0">
                <a:solidFill>
                  <a:srgbClr val="111111"/>
                </a:solidFill>
                <a:latin typeface="Avenir Light"/>
              </a:rPr>
              <a:t>hit rate in Round 1</a:t>
            </a:r>
          </a:p>
        </p:txBody>
      </p:sp>
      <p:sp>
        <p:nvSpPr>
          <p:cNvPr id="5" name="Divider"/>
          <p:cNvSpPr/>
          <p:nvPr/>
        </p:nvSpPr>
        <p:spPr>
          <a:xfrm>
            <a:off x="5943600" y="1920240"/>
            <a:ext cx="27432" cy="210312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p:cNvSpPr txBox="1"/>
          <p:nvPr/>
        </p:nvSpPr>
        <p:spPr>
          <a:xfrm>
            <a:off x="6263640" y="1920240"/>
            <a:ext cx="5196535" cy="2103120"/>
          </a:xfrm>
          <a:prstGeom prst="rect">
            <a:avLst/>
          </a:prstGeom>
          <a:noFill/>
        </p:spPr>
        <p:txBody>
          <a:bodyPr wrap="square" anchor="ctr" lIns="0" rIns="0" tIns="0" bIns="0">
            <a:noAutofit/>
          </a:bodyPr>
          <a:lstStyle/>
          <a:p>
            <a:pPr algn="l"/>
            <a:r>
              <a:rPr sz="2400" b="0">
                <a:solidFill>
                  <a:srgbClr val="111111"/>
                </a:solidFill>
                <a:latin typeface="Avenir Light"/>
              </a:rPr>
              <a:t>A hit is a signal of 50 au or more.</a:t>
            </a:r>
          </a:p>
        </p:txBody>
      </p:sp>
      <p:sp>
        <p:nvSpPr>
          <p:cNvPr id="7"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Osprey score ranks each design before the assay.</a:t>
            </a:r>
          </a:p>
        </p:txBody>
      </p:sp>
      <p:graphicFrame>
        <p:nvGraphicFramePr>
          <p:cNvPr id="3" name="Evidence table"/>
          <p:cNvGraphicFramePr>
            <a:graphicFrameLocks noGrp="1"/>
          </p:cNvGraphicFramePr>
          <p:nvPr/>
        </p:nvGraphicFramePr>
        <p:xfrm>
          <a:off x="731520" y="1371600"/>
          <a:ext cx="7040880" cy="2057400"/>
        </p:xfrm>
        <a:graphic>
          <a:graphicData uri="http://schemas.openxmlformats.org/drawingml/2006/table">
            <a:tbl>
              <a:tblPr firstRow="0" bandRow="0">
                <a:tableStyleId>{2D5ABB26-0587-4C30-8999-92F81FD0307C}</a:tableStyleId>
              </a:tblPr>
              <a:tblGrid>
                <a:gridCol w="2414016"/>
                <a:gridCol w="4626864"/>
              </a:tblGrid>
              <a:tr h="685800">
                <a:tc>
                  <a:txBody>
                    <a:bodyPr/>
                    <a:lstStyle/>
                    <a:p>
                      <a:pPr algn="l"/>
                      <a:r>
                        <a:rPr sz="2000" b="0">
                          <a:solidFill>
                            <a:srgbClr val="6D4BD6"/>
                          </a:solidFill>
                          <a:latin typeface="Avenir Light"/>
                        </a:rPr>
                        <a:t>Term</a:t>
                      </a:r>
                    </a:p>
                  </a:txBody>
                  <a:tcPr anchor="ctr" marL="109728" marR="109728">
                    <a:lnB w="19050">
                      <a:solidFill>
                        <a:srgbClr val="6D4BD6"/>
                      </a:solidFill>
                    </a:lnB>
                    <a:noFill/>
                  </a:tcPr>
                </a:tc>
                <a:tc>
                  <a:txBody>
                    <a:bodyPr/>
                    <a:lstStyle/>
                    <a:p>
                      <a:pPr algn="l"/>
                      <a:r>
                        <a:rPr sz="2000" b="0">
                          <a:solidFill>
                            <a:srgbClr val="6D4BD6"/>
                          </a:solidFill>
                          <a:latin typeface="Avenir Light"/>
                        </a:rPr>
                        <a:t>Meaning</a:t>
                      </a:r>
                    </a:p>
                  </a:txBody>
                  <a:tcPr anchor="ctr" marL="109728" marR="109728">
                    <a:lnB w="19050">
                      <a:solidFill>
                        <a:srgbClr val="6D4BD6"/>
                      </a:solidFill>
                    </a:lnB>
                    <a:noFill/>
                  </a:tcPr>
                </a:tc>
              </a:tr>
              <a:tr h="685800">
                <a:tc>
                  <a:txBody>
                    <a:bodyPr/>
                    <a:lstStyle/>
                    <a:p>
                      <a:pPr algn="l"/>
                      <a:r>
                        <a:rPr sz="2000" b="0">
                          <a:solidFill>
                            <a:srgbClr val="6D4BD6"/>
                          </a:solidFill>
                          <a:latin typeface="Avenir Light"/>
                        </a:rPr>
                        <a:t>Osprey score</a:t>
                      </a:r>
                    </a:p>
                  </a:txBody>
                  <a:tcPr anchor="ctr" marL="109728" marR="109728">
                    <a:noFill/>
                  </a:tcPr>
                </a:tc>
                <a:tc>
                  <a:txBody>
                    <a:bodyPr/>
                    <a:lstStyle/>
                    <a:p>
                      <a:pPr algn="l"/>
                      <a:r>
                        <a:rPr sz="2000" b="0">
                          <a:solidFill>
                            <a:srgbClr val="6D4BD6"/>
                          </a:solidFill>
                          <a:latin typeface="Avenir Light"/>
                        </a:rPr>
                        <a:t>Ranks a design 0 to 10</a:t>
                      </a:r>
                    </a:p>
                  </a:txBody>
                  <a:tcPr anchor="ctr" marL="109728" marR="109728">
                    <a:noFill/>
                  </a:tcPr>
                </a:tc>
              </a:tr>
              <a:tr h="685800">
                <a:tc>
                  <a:txBody>
                    <a:bodyPr/>
                    <a:lstStyle/>
                    <a:p>
                      <a:pPr algn="l"/>
                      <a:r>
                        <a:rPr sz="2000" b="0">
                          <a:solidFill>
                            <a:srgbClr val="111111"/>
                          </a:solidFill>
                          <a:latin typeface="Avenir Light"/>
                        </a:rPr>
                        <a:t>Hit</a:t>
                      </a:r>
                    </a:p>
                  </a:txBody>
                  <a:tcPr anchor="ctr" marL="109728" marR="109728">
                    <a:noFill/>
                  </a:tcPr>
                </a:tc>
                <a:tc>
                  <a:txBody>
                    <a:bodyPr/>
                    <a:lstStyle/>
                    <a:p>
                      <a:pPr algn="l"/>
                      <a:r>
                        <a:rPr sz="2000" b="0">
                          <a:solidFill>
                            <a:srgbClr val="111111"/>
                          </a:solidFill>
                          <a:latin typeface="Avenir Light"/>
                        </a:rPr>
                        <a:t>Signal of 50 au or more</a:t>
                      </a:r>
                    </a:p>
                  </a:txBody>
                  <a:tcPr anchor="ctr" marL="109728" marR="109728">
                    <a:noFill/>
                  </a:tcPr>
                </a:tc>
              </a:tr>
            </a:tbl>
          </a:graphicData>
        </a:graphic>
      </p:graphicFrame>
      <p:sp>
        <p:nvSpPr>
          <p:cNvPr id="4"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notes.md,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hit rate rose from 20 percent to 70 percent across the four rounds.</a:t>
            </a:r>
          </a:p>
        </p:txBody>
      </p:sp>
      <p:pic>
        <p:nvPicPr>
          <p:cNvPr id="3" name="Evidence picture" descr="Bar chart of the hit rate in each of the four rounds of the Heron set, which rises from 20 percent in Round 1 to 70 percent in Round 4."/>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Round 4: 70 percent</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Every design with an Osprey score of 9 or more gave a signal above 60 au.</a:t>
            </a:r>
          </a:p>
        </p:txBody>
      </p:sp>
      <p:pic>
        <p:nvPicPr>
          <p:cNvPr id="3" name="Evidence picture" descr="Scatter plot of the binding signal against the Osprey score for the 40 designs of the Heron set."/>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Scores of 9 or more</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On Target C the designed set beat the control, 80 percent to 10 percent.</a:t>
            </a:r>
          </a:p>
        </p:txBody>
      </p:sp>
      <p:pic>
        <p:nvPicPr>
          <p:cNvPr id="3" name="Evidence picture" descr="Bar chart of the hit rate on five targets for 10 designed peptides and 10 control peptides. The designed bars stand above the control bars on every target."/>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Target C: 80 versus 10 percent</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Batched pipeline cost 41 units per design, against 100 for the Manual pipeline.</a:t>
            </a:r>
          </a:p>
        </p:txBody>
      </p:sp>
      <p:pic>
        <p:nvPicPr>
          <p:cNvPr id="3" name="Evidence picture" descr="Bar chart of the cost per design of three pipelines: Manual 100 units, Filtered 64 units and Batched 41 units."/>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Batched: 41 units per design</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ake_hom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Each of the three results improves on its baseline.</a:t>
            </a:r>
          </a:p>
        </p:txBody>
      </p:sp>
      <p:sp>
        <p:nvSpPr>
          <p:cNvPr id="3" name="Claim mark"/>
          <p:cNvSpPr/>
          <p:nvPr/>
        </p:nvSpPr>
        <p:spPr>
          <a:xfrm>
            <a:off x="731520" y="1755648"/>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laim"/>
          <p:cNvSpPr txBox="1"/>
          <p:nvPr/>
        </p:nvSpPr>
        <p:spPr>
          <a:xfrm>
            <a:off x="1143000" y="1645919"/>
            <a:ext cx="10317175" cy="548640"/>
          </a:xfrm>
          <a:prstGeom prst="rect">
            <a:avLst/>
          </a:prstGeom>
          <a:noFill/>
        </p:spPr>
        <p:txBody>
          <a:bodyPr wrap="square" anchor="t" lIns="0" rIns="0" tIns="0" bIns="0">
            <a:noAutofit/>
          </a:bodyPr>
          <a:lstStyle/>
          <a:p>
            <a:pPr algn="l"/>
            <a:r>
              <a:rPr sz="2400" b="0">
                <a:solidFill>
                  <a:srgbClr val="111111"/>
                </a:solidFill>
                <a:latin typeface="Avenir Light"/>
              </a:rPr>
              <a:t>The hit rate rose from 20 percent to 70 percent in four rounds.</a:t>
            </a:r>
          </a:p>
        </p:txBody>
      </p:sp>
      <p:sp>
        <p:nvSpPr>
          <p:cNvPr id="5" name="Baseline"/>
          <p:cNvSpPr txBox="1"/>
          <p:nvPr/>
        </p:nvSpPr>
        <p:spPr>
          <a:xfrm>
            <a:off x="1143000" y="2212848"/>
            <a:ext cx="10317175" cy="460247"/>
          </a:xfrm>
          <a:prstGeom prst="rect">
            <a:avLst/>
          </a:prstGeom>
          <a:noFill/>
        </p:spPr>
        <p:txBody>
          <a:bodyPr wrap="square" anchor="t" lIns="0" rIns="0" tIns="0" bIns="0">
            <a:noAutofit/>
          </a:bodyPr>
          <a:lstStyle/>
          <a:p>
            <a:pPr algn="l"/>
            <a:r>
              <a:rPr sz="2000" b="0">
                <a:solidFill>
                  <a:srgbClr val="6B7280"/>
                </a:solidFill>
                <a:latin typeface="Avenir Light"/>
              </a:rPr>
              <a:t>Round 1 gave 20 percent.</a:t>
            </a:r>
          </a:p>
        </p:txBody>
      </p:sp>
      <p:sp>
        <p:nvSpPr>
          <p:cNvPr id="6" name="Claim mark"/>
          <p:cNvSpPr/>
          <p:nvPr/>
        </p:nvSpPr>
        <p:spPr>
          <a:xfrm>
            <a:off x="731520" y="3084575"/>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laim"/>
          <p:cNvSpPr txBox="1"/>
          <p:nvPr/>
        </p:nvSpPr>
        <p:spPr>
          <a:xfrm>
            <a:off x="1143000" y="2974847"/>
            <a:ext cx="10317175" cy="914400"/>
          </a:xfrm>
          <a:prstGeom prst="rect">
            <a:avLst/>
          </a:prstGeom>
          <a:noFill/>
        </p:spPr>
        <p:txBody>
          <a:bodyPr wrap="square" anchor="t" lIns="0" rIns="0" tIns="0" bIns="0">
            <a:noAutofit/>
          </a:bodyPr>
          <a:lstStyle/>
          <a:p>
            <a:pPr algn="l"/>
            <a:r>
              <a:rPr sz="2400" b="0">
                <a:solidFill>
                  <a:srgbClr val="111111"/>
                </a:solidFill>
                <a:latin typeface="Avenir Light"/>
              </a:rPr>
              <a:t>On Target C the designed set beat the control, 80 percent to 10 percent.</a:t>
            </a:r>
          </a:p>
        </p:txBody>
      </p:sp>
      <p:sp>
        <p:nvSpPr>
          <p:cNvPr id="8" name="Baseline"/>
          <p:cNvSpPr txBox="1"/>
          <p:nvPr/>
        </p:nvSpPr>
        <p:spPr>
          <a:xfrm>
            <a:off x="1143000" y="3907535"/>
            <a:ext cx="10317175" cy="460247"/>
          </a:xfrm>
          <a:prstGeom prst="rect">
            <a:avLst/>
          </a:prstGeom>
          <a:noFill/>
        </p:spPr>
        <p:txBody>
          <a:bodyPr wrap="square" anchor="t" lIns="0" rIns="0" tIns="0" bIns="0">
            <a:noAutofit/>
          </a:bodyPr>
          <a:lstStyle/>
          <a:p>
            <a:pPr algn="l"/>
            <a:r>
              <a:rPr sz="2000" b="0">
                <a:solidFill>
                  <a:srgbClr val="6B7280"/>
                </a:solidFill>
                <a:latin typeface="Avenir Light"/>
              </a:rPr>
              <a:t>The control reached 10 percent.</a:t>
            </a:r>
          </a:p>
        </p:txBody>
      </p:sp>
      <p:sp>
        <p:nvSpPr>
          <p:cNvPr id="9" name="Claim mark"/>
          <p:cNvSpPr/>
          <p:nvPr/>
        </p:nvSpPr>
        <p:spPr>
          <a:xfrm>
            <a:off x="731520" y="4779264"/>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laim"/>
          <p:cNvSpPr txBox="1"/>
          <p:nvPr/>
        </p:nvSpPr>
        <p:spPr>
          <a:xfrm>
            <a:off x="1143000" y="4669536"/>
            <a:ext cx="10317175" cy="548640"/>
          </a:xfrm>
          <a:prstGeom prst="rect">
            <a:avLst/>
          </a:prstGeom>
          <a:noFill/>
        </p:spPr>
        <p:txBody>
          <a:bodyPr wrap="square" anchor="t" lIns="0" rIns="0" tIns="0" bIns="0">
            <a:noAutofit/>
          </a:bodyPr>
          <a:lstStyle/>
          <a:p>
            <a:pPr algn="l"/>
            <a:r>
              <a:rPr sz="2400" b="0">
                <a:solidFill>
                  <a:srgbClr val="111111"/>
                </a:solidFill>
                <a:latin typeface="Avenir Light"/>
              </a:rPr>
              <a:t>The Batched pipeline cost 41 units per design.</a:t>
            </a:r>
          </a:p>
        </p:txBody>
      </p:sp>
      <p:sp>
        <p:nvSpPr>
          <p:cNvPr id="11" name="Baseline"/>
          <p:cNvSpPr txBox="1"/>
          <p:nvPr/>
        </p:nvSpPr>
        <p:spPr>
          <a:xfrm>
            <a:off x="1143000" y="5236463"/>
            <a:ext cx="10317175" cy="460247"/>
          </a:xfrm>
          <a:prstGeom prst="rect">
            <a:avLst/>
          </a:prstGeom>
          <a:noFill/>
        </p:spPr>
        <p:txBody>
          <a:bodyPr wrap="square" anchor="t" lIns="0" rIns="0" tIns="0" bIns="0">
            <a:noAutofit/>
          </a:bodyPr>
          <a:lstStyle/>
          <a:p>
            <a:pPr algn="l"/>
            <a:r>
              <a:rPr sz="2000" b="0">
                <a:solidFill>
                  <a:srgbClr val="6B7280"/>
                </a:solidFill>
                <a:latin typeface="Avenir Light"/>
              </a:rPr>
              <a:t>The Manual pipeline cost 100 units.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backu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40-residue peptide gave 24.9 au and the 8-residue peptide gave 60.6 au.</a:t>
            </a:r>
          </a:p>
        </p:txBody>
      </p:sp>
      <p:pic>
        <p:nvPicPr>
          <p:cNvPr id="3" name="Evidence picture" descr="Scatter plot of the binding signal against the peptide length for the 40 designs of the Heron set."/>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8 residues: 60.6 au</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40 residues: 24.9 au</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results.csv, fig4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Osprey score picks designs that bind Target T</dc:title>
  <dc:subject/>
  <dc:creator>A. Author</dc:creator>
  <cp:keywords/>
  <dc:description/>
  <cp:lastModifiedBy>A. Author</cp:lastModifiedBy>
  <cp:revision>1</cp:revision>
  <dcterms:created xsi:type="dcterms:W3CDTF">2026-10-21T11:02:28Z</dcterms:created>
  <dcterms:modified xsi:type="dcterms:W3CDTF">2026-10-21T11:02:28Z</dcterms:modified>
  <cp:category/>
</cp:coreProperties>
</file>