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question that the deck answers: does the Osprey score pick designs that bind Target T? Say who ran the study and where, then go to the plan.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message in one breath. Then name the four parts: the need, the approach, the evidence and the three claims to keep. Tell the room that the claims return on the last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hit is a design with a binding signal of at least 50 au on the Kestrel assay. Round 1 was the first of four rounds of ten designs. Ask the room what hit rate would justify the plate time. Then say that every later round is compared with this value.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Define the terms once, so that no later slide needs a glossary. The score comes before the assay and costs no plate time. The Mallard filter dropped every design with a score below 4, so each design of the Heron set passed it. The signal of a design is the reading at 60 minutes.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one reference design, not a design of the Heron set. Each curve has seven readings, one every 10 minutes. The 5 uM and 25 uM curves flatten by 50 minutes, but the 1 uM curve still rises, so call the 60 minute reading a fixed time point and not a plateau. Name the curves by their labels, since color alone separates them.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round holds ten designs, so one design moves a round by ten percentage points. Say that the study ran once, on one plate layout, and that the bars carry no error bars.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slope is modest. Between scores of 4 and 8.5 the signals overlap widely, from 12 to 61.2 au. Only the six designs with a score of 9 or more all read above 60 au. No design below a score of 4 appears, because the Mallard filter removed them before the assay.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bar holds ten peptides, and none of them belongs to the Heron set. Target C shows the widest gap. Say that the control peptides were not matched to the designed peptides for length, and point to the length plot on the backup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 is per design, in units. The Filtered pipeline sits between the two. The notes of the study do not say which pipeline made the Heron set, so do not link this cost to the hit rate.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Leave this slide up during questions. Say each claim in your own words and name its baseline. Say that the study ran once, on one plate layout.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if someone asks whether length explains the signal. The longest peptide gave 24.9 au, but the lowest signal, 12 au, came from a peptide of 36 residues. The controls of the Target C slide were not matched for length, so a gap could partly reflect length.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if someone asks about stability. The trend has the same direction as the binding signal. The most stable design is not the design with the highest score.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if someone asks about yield. Six designs make a spot check and not a screen, and the notes of the study do not say how the six were chosen.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name="title">
    <p:bg>
      <p:bgPr>
        <a:solidFill>
          <a:srgbClr val="FFFFFF"/>
        </a:solidFill>
        <a:effectLst/>
      </p:bgPr>
    </p:bg>
    <p:spTree>
      <p:nvGrpSpPr>
        <p:cNvPr id="1" name=""/>
        <p:cNvGrpSpPr/>
        <p:nvPr/>
      </p:nvGrpSpPr>
      <p:grpSpPr/>
      <p:sp>
        <p:nvSpPr>
          <p:cNvPr id="2" name="Title"/>
          <p:cNvSpPr>
            <a:spLocks noGrp="1"/>
          </p:cNvSpPr>
          <p:nvPr>
            <p:ph type="title"/>
          </p:nvPr>
        </p:nvSpPr>
        <p:spPr>
          <a:xfrm>
            <a:off x="731520" y="1920240"/>
            <a:ext cx="10728655" cy="1737360"/>
          </a:xfrm>
        </p:spPr>
        <p:txBody>
          <a:bodyPr wrap="square" anchor="t" lIns="0" rIns="0" tIns="0" bIns="0">
            <a:noAutofit/>
          </a:bodyPr>
          <a:lstStyle/>
          <a:p>
            <a:pPr algn="l"/>
            <a:r>
              <a:rPr sz="4400" b="0">
                <a:solidFill>
                  <a:srgbClr val="111111"/>
                </a:solidFill>
                <a:latin typeface="Avenir Light"/>
              </a:rPr>
              <a:t>The Osprey score picks designs that bind Target T</a:t>
            </a:r>
          </a:p>
        </p:txBody>
      </p:sp>
      <p:sp>
        <p:nvSpPr>
          <p:cNvPr id="3" name="Accent mark"/>
          <p:cNvSpPr/>
          <p:nvPr/>
        </p:nvSpPr>
        <p:spPr>
          <a:xfrm>
            <a:off x="731520" y="3840480"/>
            <a:ext cx="1280160" cy="27432"/>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ubtitle"/>
          <p:cNvSpPr txBox="1"/>
          <p:nvPr/>
        </p:nvSpPr>
        <p:spPr>
          <a:xfrm>
            <a:off x="731520" y="4023360"/>
            <a:ext cx="10728655" cy="1097280"/>
          </a:xfrm>
          <a:prstGeom prst="rect">
            <a:avLst/>
          </a:prstGeom>
          <a:noFill/>
        </p:spPr>
        <p:txBody>
          <a:bodyPr wrap="square" anchor="t" lIns="0" rIns="0" tIns="0" bIns="0">
            <a:noAutofit/>
          </a:bodyPr>
          <a:lstStyle/>
          <a:p>
            <a:pPr algn="l"/>
            <a:r>
              <a:rPr sz="2000" b="0">
                <a:solidFill>
                  <a:srgbClr val="6B7280"/>
                </a:solidFill>
                <a:latin typeface="Avenir Light"/>
              </a:rPr>
              <a:t>A. Author</a:t>
            </a:r>
          </a:p>
          <a:p>
            <a:pPr algn="l"/>
            <a:r>
              <a:rPr sz="2000" b="0">
                <a:solidFill>
                  <a:srgbClr val="6B7280"/>
                </a:solidFill>
                <a:latin typeface="Avenir Light"/>
              </a:rPr>
              <a:t>Example Lab</a:t>
            </a:r>
          </a:p>
          <a:p>
            <a:pPr algn="l"/>
            <a:r>
              <a:rPr sz="2000" b="0">
                <a:solidFill>
                  <a:srgbClr val="6B7280"/>
                </a:solidFill>
                <a:latin typeface="Avenir Light"/>
              </a:rP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roadmap">
    <p:bg>
      <p:bgPr>
        <a:solidFill>
          <a:srgbClr val="FFFFFF"/>
        </a:solidFill>
        <a:effectLst/>
      </p:bgPr>
    </p:bg>
    <p:spTree>
      <p:nvGrpSpPr>
        <p:cNvPr id="1" name=""/>
        <p:cNvGrpSpPr/>
        <p:nvPr/>
      </p:nvGrpSpPr>
      <p:grpSpPr/>
      <p:sp>
        <p:nvSpPr>
          <p:cNvPr id="2" name="Title"/>
          <p:cNvSpPr>
            <a:spLocks noGrp="1"/>
          </p:cNvSpPr>
          <p:nvPr>
            <p:ph type="title"/>
          </p:nvPr>
        </p:nvSpPr>
        <p:spPr>
          <a:xfrm>
            <a:off x="731520" y="274320"/>
            <a:ext cx="10728655" cy="868680"/>
          </a:xfrm>
        </p:spPr>
        <p:txBody>
          <a:bodyPr wrap="square" anchor="t" lIns="0" rIns="0" tIns="0" bIns="0">
            <a:noAutofit/>
          </a:bodyPr>
          <a:lstStyle/>
          <a:p>
            <a:pPr algn="l"/>
            <a:r>
              <a:rPr sz="2800" b="0">
                <a:solidFill>
                  <a:srgbClr val="111111"/>
                </a:solidFill>
                <a:latin typeface="Avenir Light"/>
              </a:rPr>
              <a:t>The Osprey score picked designs that bound Target T: the hit rate rose from 20 percent to 70 percent across four rounds.</a:t>
            </a:r>
          </a:p>
        </p:txBody>
      </p:sp>
      <p:sp>
        <p:nvSpPr>
          <p:cNvPr id="3" name="Section mark"/>
          <p:cNvSpPr/>
          <p:nvPr/>
        </p:nvSpPr>
        <p:spPr>
          <a:xfrm>
            <a:off x="731520" y="2103120"/>
            <a:ext cx="2476423" cy="27432"/>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Section name"/>
          <p:cNvSpPr txBox="1"/>
          <p:nvPr/>
        </p:nvSpPr>
        <p:spPr>
          <a:xfrm>
            <a:off x="731520" y="2331720"/>
            <a:ext cx="2476423" cy="731520"/>
          </a:xfrm>
          <a:prstGeom prst="rect">
            <a:avLst/>
          </a:prstGeom>
          <a:noFill/>
        </p:spPr>
        <p:txBody>
          <a:bodyPr wrap="square" anchor="t" lIns="0" rIns="0" tIns="0" bIns="0">
            <a:noAutofit/>
          </a:bodyPr>
          <a:lstStyle/>
          <a:p>
            <a:pPr algn="l"/>
            <a:r>
              <a:rPr sz="3200" b="0">
                <a:solidFill>
                  <a:srgbClr val="6D4BD6"/>
                </a:solidFill>
                <a:latin typeface="Avenir Light"/>
              </a:rPr>
              <a:t>Need</a:t>
            </a:r>
          </a:p>
        </p:txBody>
      </p:sp>
      <p:sp>
        <p:nvSpPr>
          <p:cNvPr id="5" name="Section line"/>
          <p:cNvSpPr txBox="1"/>
          <p:nvPr/>
        </p:nvSpPr>
        <p:spPr>
          <a:xfrm>
            <a:off x="731520" y="3200399"/>
            <a:ext cx="2476423" cy="1645920"/>
          </a:xfrm>
          <a:prstGeom prst="rect">
            <a:avLst/>
          </a:prstGeom>
          <a:noFill/>
        </p:spPr>
        <p:txBody>
          <a:bodyPr wrap="square" anchor="t" lIns="0" rIns="0" tIns="0" bIns="0">
            <a:noAutofit/>
          </a:bodyPr>
          <a:lstStyle/>
          <a:p>
            <a:pPr algn="l"/>
            <a:r>
              <a:rPr sz="2400" b="0">
                <a:solidFill>
                  <a:srgbClr val="111111"/>
                </a:solidFill>
                <a:latin typeface="Avenir Light"/>
              </a:rPr>
              <a:t>Round 1 had few hits</a:t>
            </a:r>
          </a:p>
        </p:txBody>
      </p:sp>
      <p:sp>
        <p:nvSpPr>
          <p:cNvPr id="6" name="Section mark"/>
          <p:cNvSpPr/>
          <p:nvPr/>
        </p:nvSpPr>
        <p:spPr>
          <a:xfrm>
            <a:off x="3482263" y="2103120"/>
            <a:ext cx="2476423" cy="27432"/>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ection name"/>
          <p:cNvSpPr txBox="1"/>
          <p:nvPr/>
        </p:nvSpPr>
        <p:spPr>
          <a:xfrm>
            <a:off x="3482263" y="2331720"/>
            <a:ext cx="2476423" cy="731520"/>
          </a:xfrm>
          <a:prstGeom prst="rect">
            <a:avLst/>
          </a:prstGeom>
          <a:noFill/>
        </p:spPr>
        <p:txBody>
          <a:bodyPr wrap="square" anchor="t" lIns="0" rIns="0" tIns="0" bIns="0">
            <a:noAutofit/>
          </a:bodyPr>
          <a:lstStyle/>
          <a:p>
            <a:pPr algn="l"/>
            <a:r>
              <a:rPr sz="3200" b="0">
                <a:solidFill>
                  <a:srgbClr val="6D4BD6"/>
                </a:solidFill>
                <a:latin typeface="Avenir Light"/>
              </a:rPr>
              <a:t>Approach</a:t>
            </a:r>
          </a:p>
        </p:txBody>
      </p:sp>
      <p:sp>
        <p:nvSpPr>
          <p:cNvPr id="8" name="Section line"/>
          <p:cNvSpPr txBox="1"/>
          <p:nvPr/>
        </p:nvSpPr>
        <p:spPr>
          <a:xfrm>
            <a:off x="3482263" y="3200399"/>
            <a:ext cx="2476423" cy="1645920"/>
          </a:xfrm>
          <a:prstGeom prst="rect">
            <a:avLst/>
          </a:prstGeom>
          <a:noFill/>
        </p:spPr>
        <p:txBody>
          <a:bodyPr wrap="square" anchor="t" lIns="0" rIns="0" tIns="0" bIns="0">
            <a:noAutofit/>
          </a:bodyPr>
          <a:lstStyle/>
          <a:p>
            <a:pPr algn="l"/>
            <a:r>
              <a:rPr sz="2400" b="0">
                <a:solidFill>
                  <a:srgbClr val="111111"/>
                </a:solidFill>
                <a:latin typeface="Avenir Light"/>
              </a:rPr>
              <a:t>Score, assay, terms</a:t>
            </a:r>
          </a:p>
        </p:txBody>
      </p:sp>
      <p:sp>
        <p:nvSpPr>
          <p:cNvPr id="9" name="Section mark"/>
          <p:cNvSpPr/>
          <p:nvPr/>
        </p:nvSpPr>
        <p:spPr>
          <a:xfrm>
            <a:off x="6233006" y="2103120"/>
            <a:ext cx="2476423" cy="27432"/>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ection name"/>
          <p:cNvSpPr txBox="1"/>
          <p:nvPr/>
        </p:nvSpPr>
        <p:spPr>
          <a:xfrm>
            <a:off x="6233006" y="2331720"/>
            <a:ext cx="2476423" cy="731520"/>
          </a:xfrm>
          <a:prstGeom prst="rect">
            <a:avLst/>
          </a:prstGeom>
          <a:noFill/>
        </p:spPr>
        <p:txBody>
          <a:bodyPr wrap="square" anchor="t" lIns="0" rIns="0" tIns="0" bIns="0">
            <a:noAutofit/>
          </a:bodyPr>
          <a:lstStyle/>
          <a:p>
            <a:pPr algn="l"/>
            <a:r>
              <a:rPr sz="3200" b="0">
                <a:solidFill>
                  <a:srgbClr val="6D4BD6"/>
                </a:solidFill>
                <a:latin typeface="Avenir Light"/>
              </a:rPr>
              <a:t>Evidence</a:t>
            </a:r>
          </a:p>
        </p:txBody>
      </p:sp>
      <p:sp>
        <p:nvSpPr>
          <p:cNvPr id="11" name="Section line"/>
          <p:cNvSpPr txBox="1"/>
          <p:nvPr/>
        </p:nvSpPr>
        <p:spPr>
          <a:xfrm>
            <a:off x="6233006" y="3200399"/>
            <a:ext cx="2476423" cy="1645920"/>
          </a:xfrm>
          <a:prstGeom prst="rect">
            <a:avLst/>
          </a:prstGeom>
          <a:noFill/>
        </p:spPr>
        <p:txBody>
          <a:bodyPr wrap="square" anchor="t" lIns="0" rIns="0" tIns="0" bIns="0">
            <a:noAutofit/>
          </a:bodyPr>
          <a:lstStyle/>
          <a:p>
            <a:pPr algn="l"/>
            <a:r>
              <a:rPr sz="2400" b="0">
                <a:solidFill>
                  <a:srgbClr val="111111"/>
                </a:solidFill>
                <a:latin typeface="Avenir Light"/>
              </a:rPr>
              <a:t>Rounds, score, control</a:t>
            </a:r>
          </a:p>
        </p:txBody>
      </p:sp>
      <p:sp>
        <p:nvSpPr>
          <p:cNvPr id="12" name="Section mark"/>
          <p:cNvSpPr/>
          <p:nvPr/>
        </p:nvSpPr>
        <p:spPr>
          <a:xfrm>
            <a:off x="8983749" y="2103120"/>
            <a:ext cx="2476423" cy="27432"/>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ection name"/>
          <p:cNvSpPr txBox="1"/>
          <p:nvPr/>
        </p:nvSpPr>
        <p:spPr>
          <a:xfrm>
            <a:off x="8983749" y="2331720"/>
            <a:ext cx="2476423" cy="731520"/>
          </a:xfrm>
          <a:prstGeom prst="rect">
            <a:avLst/>
          </a:prstGeom>
          <a:noFill/>
        </p:spPr>
        <p:txBody>
          <a:bodyPr wrap="square" anchor="t" lIns="0" rIns="0" tIns="0" bIns="0">
            <a:noAutofit/>
          </a:bodyPr>
          <a:lstStyle/>
          <a:p>
            <a:pPr algn="l"/>
            <a:r>
              <a:rPr sz="3200" b="0">
                <a:solidFill>
                  <a:srgbClr val="6D4BD6"/>
                </a:solidFill>
                <a:latin typeface="Avenir Light"/>
              </a:rPr>
              <a:t>Take-homes</a:t>
            </a:r>
          </a:p>
        </p:txBody>
      </p:sp>
      <p:sp>
        <p:nvSpPr>
          <p:cNvPr id="14" name="Section line"/>
          <p:cNvSpPr txBox="1"/>
          <p:nvPr/>
        </p:nvSpPr>
        <p:spPr>
          <a:xfrm>
            <a:off x="8983749" y="3200399"/>
            <a:ext cx="2476423" cy="1645920"/>
          </a:xfrm>
          <a:prstGeom prst="rect">
            <a:avLst/>
          </a:prstGeom>
          <a:noFill/>
        </p:spPr>
        <p:txBody>
          <a:bodyPr wrap="square" anchor="t" lIns="0" rIns="0" tIns="0" bIns="0">
            <a:noAutofit/>
          </a:bodyPr>
          <a:lstStyle/>
          <a:p>
            <a:pPr algn="l"/>
            <a:r>
              <a:rPr sz="2400" b="0">
                <a:solidFill>
                  <a:srgbClr val="111111"/>
                </a:solidFill>
                <a:latin typeface="Avenir Light"/>
              </a:rPr>
              <a:t>Three claims to keep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big_number">
    <p:bg>
      <p:bgPr>
        <a:solidFill>
          <a:srgbClr val="FFFFFF"/>
        </a:solidFill>
        <a:effectLst/>
      </p:bgPr>
    </p:bg>
    <p:spTree>
      <p:nvGrpSpPr>
        <p:cNvPr id="1" name=""/>
        <p:cNvGrpSpPr/>
        <p:nvPr/>
      </p:nvGrpSpPr>
      <p:grpSpPr/>
      <p:sp>
        <p:nvSpPr>
          <p:cNvPr id="2" name="Title"/>
          <p:cNvSpPr>
            <a:spLocks noGrp="1"/>
          </p:cNvSpPr>
          <p:nvPr>
            <p:ph type="title"/>
          </p:nvPr>
        </p:nvSpPr>
        <p:spPr>
          <a:xfrm>
            <a:off x="731520" y="274320"/>
            <a:ext cx="10728655" cy="868680"/>
          </a:xfrm>
        </p:spPr>
        <p:txBody>
          <a:bodyPr wrap="square" anchor="t" lIns="0" rIns="0" tIns="0" bIns="0">
            <a:noAutofit/>
          </a:bodyPr>
          <a:lstStyle/>
          <a:p>
            <a:pPr algn="l"/>
            <a:r>
              <a:rPr sz="2800" b="0">
                <a:solidFill>
                  <a:srgbClr val="111111"/>
                </a:solidFill>
                <a:latin typeface="Avenir Light"/>
              </a:rPr>
              <a:t>Only 20 percent of the designs in Round 1 bound Target T</a:t>
            </a:r>
          </a:p>
        </p:txBody>
      </p:sp>
      <p:sp>
        <p:nvSpPr>
          <p:cNvPr id="3" name="Number"/>
          <p:cNvSpPr txBox="1"/>
          <p:nvPr/>
        </p:nvSpPr>
        <p:spPr>
          <a:xfrm>
            <a:off x="731520" y="1828800"/>
            <a:ext cx="4937760" cy="1554480"/>
          </a:xfrm>
          <a:prstGeom prst="rect">
            <a:avLst/>
          </a:prstGeom>
          <a:noFill/>
        </p:spPr>
        <p:txBody>
          <a:bodyPr wrap="square" anchor="t" lIns="0" rIns="0" tIns="0" bIns="0">
            <a:noAutofit/>
          </a:bodyPr>
          <a:lstStyle/>
          <a:p>
            <a:pPr algn="l"/>
            <a:r>
              <a:rPr sz="9600" b="0">
                <a:solidFill>
                  <a:srgbClr val="6D4BD6"/>
                </a:solidFill>
                <a:latin typeface="Avenir Light"/>
              </a:rPr>
              <a:t>20%</a:t>
            </a:r>
          </a:p>
        </p:txBody>
      </p:sp>
      <p:sp>
        <p:nvSpPr>
          <p:cNvPr id="4" name="Number label"/>
          <p:cNvSpPr txBox="1"/>
          <p:nvPr/>
        </p:nvSpPr>
        <p:spPr>
          <a:xfrm>
            <a:off x="731520" y="3383279"/>
            <a:ext cx="4937760" cy="640080"/>
          </a:xfrm>
          <a:prstGeom prst="rect">
            <a:avLst/>
          </a:prstGeom>
          <a:noFill/>
        </p:spPr>
        <p:txBody>
          <a:bodyPr wrap="square" anchor="t" lIns="0" rIns="0" tIns="0" bIns="0">
            <a:noAutofit/>
          </a:bodyPr>
          <a:lstStyle/>
          <a:p>
            <a:pPr algn="l"/>
            <a:r>
              <a:rPr sz="2400" b="0">
                <a:solidFill>
                  <a:srgbClr val="111111"/>
                </a:solidFill>
                <a:latin typeface="Avenir Light"/>
              </a:rPr>
              <a:t>hit rate in Round 1</a:t>
            </a:r>
          </a:p>
        </p:txBody>
      </p:sp>
      <p:sp>
        <p:nvSpPr>
          <p:cNvPr id="5" name="Divider"/>
          <p:cNvSpPr/>
          <p:nvPr/>
        </p:nvSpPr>
        <p:spPr>
          <a:xfrm>
            <a:off x="5943600" y="1920240"/>
            <a:ext cx="27432" cy="2103120"/>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Baseline"/>
          <p:cNvSpPr txBox="1"/>
          <p:nvPr/>
        </p:nvSpPr>
        <p:spPr>
          <a:xfrm>
            <a:off x="6263640" y="1920240"/>
            <a:ext cx="5196535" cy="2103120"/>
          </a:xfrm>
          <a:prstGeom prst="rect">
            <a:avLst/>
          </a:prstGeom>
          <a:noFill/>
        </p:spPr>
        <p:txBody>
          <a:bodyPr wrap="square" anchor="ctr" lIns="0" rIns="0" tIns="0" bIns="0">
            <a:noAutofit/>
          </a:bodyPr>
          <a:lstStyle/>
          <a:p>
            <a:pPr algn="l"/>
            <a:r>
              <a:rPr sz="2400" b="0">
                <a:solidFill>
                  <a:srgbClr val="111111"/>
                </a:solidFill>
                <a:latin typeface="Avenir Light"/>
              </a:rPr>
              <a:t>Baseline: Round 1 is the starting point of the Heron set.</a:t>
            </a:r>
          </a:p>
        </p:txBody>
      </p:sp>
      <p:sp>
        <p:nvSpPr>
          <p:cNvPr id="7" name="Source"/>
          <p:cNvSpPr txBox="1"/>
          <p:nvPr/>
        </p:nvSpPr>
        <p:spPr>
          <a:xfrm>
            <a:off x="731520" y="6355080"/>
            <a:ext cx="10728655" cy="274320"/>
          </a:xfrm>
          <a:prstGeom prst="rect">
            <a:avLst/>
          </a:prstGeom>
          <a:noFill/>
        </p:spPr>
        <p:txBody>
          <a:bodyPr wrap="square" anchor="t" lIns="0" rIns="0" tIns="0" bIns="0">
            <a:noAutofit/>
          </a:bodyPr>
          <a:lstStyle/>
          <a:p>
            <a:pPr algn="l"/>
            <a:r>
              <a:rPr sz="1200" b="0">
                <a:solidFill>
                  <a:srgbClr val="6B7280"/>
                </a:solidFill>
                <a:latin typeface="Avenir Light"/>
              </a:rPr>
              <a:t>Source: results.csv, fig1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assertion_evidence">
    <p:bg>
      <p:bgPr>
        <a:solidFill>
          <a:srgbClr val="FFFFFF"/>
        </a:solidFill>
        <a:effectLst/>
      </p:bgPr>
    </p:bg>
    <p:spTree>
      <p:nvGrpSpPr>
        <p:cNvPr id="1" name=""/>
        <p:cNvGrpSpPr/>
        <p:nvPr/>
      </p:nvGrpSpPr>
      <p:grpSpPr/>
      <p:sp>
        <p:nvSpPr>
          <p:cNvPr id="2" name="Title"/>
          <p:cNvSpPr>
            <a:spLocks noGrp="1"/>
          </p:cNvSpPr>
          <p:nvPr>
            <p:ph type="title"/>
          </p:nvPr>
        </p:nvSpPr>
        <p:spPr>
          <a:xfrm>
            <a:off x="731520" y="274320"/>
            <a:ext cx="10728655" cy="868680"/>
          </a:xfrm>
        </p:spPr>
        <p:txBody>
          <a:bodyPr wrap="square" anchor="t" lIns="0" rIns="0" tIns="0" bIns="0">
            <a:noAutofit/>
          </a:bodyPr>
          <a:lstStyle/>
          <a:p>
            <a:pPr algn="l"/>
            <a:r>
              <a:rPr sz="2800" b="0">
                <a:solidFill>
                  <a:srgbClr val="111111"/>
                </a:solidFill>
                <a:latin typeface="Avenir Light"/>
              </a:rPr>
              <a:t>The Osprey score ranks each design before the assay reads it</a:t>
            </a:r>
          </a:p>
        </p:txBody>
      </p:sp>
      <p:graphicFrame>
        <p:nvGraphicFramePr>
          <p:cNvPr id="3" name="Evidence table"/>
          <p:cNvGraphicFramePr>
            <a:graphicFrameLocks noGrp="1"/>
          </p:cNvGraphicFramePr>
          <p:nvPr/>
        </p:nvGraphicFramePr>
        <p:xfrm>
          <a:off x="731520" y="1371600"/>
          <a:ext cx="7040880" cy="2057400"/>
        </p:xfrm>
        <a:graphic>
          <a:graphicData uri="http://schemas.openxmlformats.org/drawingml/2006/table">
            <a:tbl>
              <a:tblPr firstRow="0" bandRow="0">
                <a:tableStyleId>{2D5ABB26-0587-4C30-8999-92F81FD0307C}</a:tableStyleId>
              </a:tblPr>
              <a:tblGrid>
                <a:gridCol w="2283528"/>
                <a:gridCol w="4757352"/>
              </a:tblGrid>
              <a:tr h="685800">
                <a:tc>
                  <a:txBody>
                    <a:bodyPr/>
                    <a:lstStyle/>
                    <a:p>
                      <a:pPr algn="l"/>
                      <a:r>
                        <a:rPr sz="2000" b="0">
                          <a:solidFill>
                            <a:srgbClr val="6D4BD6"/>
                          </a:solidFill>
                          <a:latin typeface="Avenir Light"/>
                        </a:rPr>
                        <a:t>Term</a:t>
                      </a:r>
                    </a:p>
                  </a:txBody>
                  <a:tcPr anchor="ctr" marL="109728" marR="109728">
                    <a:lnB w="19050">
                      <a:solidFill>
                        <a:srgbClr val="6D4BD6"/>
                      </a:solidFill>
                    </a:lnB>
                    <a:noFill/>
                  </a:tcPr>
                </a:tc>
                <a:tc>
                  <a:txBody>
                    <a:bodyPr/>
                    <a:lstStyle/>
                    <a:p>
                      <a:pPr algn="l"/>
                      <a:r>
                        <a:rPr sz="2000" b="0">
                          <a:solidFill>
                            <a:srgbClr val="6D4BD6"/>
                          </a:solidFill>
                          <a:latin typeface="Avenir Light"/>
                        </a:rPr>
                        <a:t>Meaning</a:t>
                      </a:r>
                    </a:p>
                  </a:txBody>
                  <a:tcPr anchor="ctr" marL="109728" marR="109728">
                    <a:lnB w="19050">
                      <a:solidFill>
                        <a:srgbClr val="6D4BD6"/>
                      </a:solidFill>
                    </a:lnB>
                    <a:noFill/>
                  </a:tcPr>
                </a:tc>
              </a:tr>
              <a:tr h="685800">
                <a:tc>
                  <a:txBody>
                    <a:bodyPr/>
                    <a:lstStyle/>
                    <a:p>
                      <a:pPr algn="l"/>
                      <a:r>
                        <a:rPr sz="2000" b="0">
                          <a:solidFill>
                            <a:srgbClr val="6D4BD6"/>
                          </a:solidFill>
                          <a:latin typeface="Avenir Light"/>
                        </a:rPr>
                        <a:t>Osprey score</a:t>
                      </a:r>
                    </a:p>
                  </a:txBody>
                  <a:tcPr anchor="ctr" marL="109728" marR="109728">
                    <a:noFill/>
                  </a:tcPr>
                </a:tc>
                <a:tc>
                  <a:txBody>
                    <a:bodyPr/>
                    <a:lstStyle/>
                    <a:p>
                      <a:pPr algn="l"/>
                      <a:r>
                        <a:rPr sz="2000" b="0">
                          <a:solidFill>
                            <a:srgbClr val="6D4BD6"/>
                          </a:solidFill>
                          <a:latin typeface="Avenir Light"/>
                        </a:rPr>
                        <a:t>Ranks a design, 0 to 10</a:t>
                      </a:r>
                    </a:p>
                  </a:txBody>
                  <a:tcPr anchor="ctr" marL="109728" marR="109728">
                    <a:noFill/>
                  </a:tcPr>
                </a:tc>
              </a:tr>
              <a:tr h="685800">
                <a:tc>
                  <a:txBody>
                    <a:bodyPr/>
                    <a:lstStyle/>
                    <a:p>
                      <a:pPr algn="l"/>
                      <a:r>
                        <a:rPr sz="2000" b="0">
                          <a:solidFill>
                            <a:srgbClr val="111111"/>
                          </a:solidFill>
                          <a:latin typeface="Avenir Light"/>
                        </a:rPr>
                        <a:t>Hit</a:t>
                      </a:r>
                    </a:p>
                  </a:txBody>
                  <a:tcPr anchor="ctr" marL="109728" marR="109728">
                    <a:noFill/>
                  </a:tcPr>
                </a:tc>
                <a:tc>
                  <a:txBody>
                    <a:bodyPr/>
                    <a:lstStyle/>
                    <a:p>
                      <a:pPr algn="l"/>
                      <a:r>
                        <a:rPr sz="2000" b="0">
                          <a:solidFill>
                            <a:srgbClr val="111111"/>
                          </a:solidFill>
                          <a:latin typeface="Avenir Light"/>
                        </a:rPr>
                        <a:t>A signal of 50 au or more</a:t>
                      </a:r>
                    </a:p>
                  </a:txBody>
                  <a:tcPr anchor="ctr" marL="109728" marR="109728">
                    <a:noFill/>
                  </a:tcPr>
                </a:tc>
              </a:tr>
            </a:tbl>
          </a:graphicData>
        </a:graphic>
      </p:graphicFrame>
      <p:sp>
        <p:nvSpPr>
          <p:cNvPr id="4" name="Source"/>
          <p:cNvSpPr txBox="1"/>
          <p:nvPr/>
        </p:nvSpPr>
        <p:spPr>
          <a:xfrm>
            <a:off x="731520" y="6355080"/>
            <a:ext cx="10728655" cy="274320"/>
          </a:xfrm>
          <a:prstGeom prst="rect">
            <a:avLst/>
          </a:prstGeom>
          <a:noFill/>
        </p:spPr>
        <p:txBody>
          <a:bodyPr wrap="square" anchor="t" lIns="0" rIns="0" tIns="0" bIns="0">
            <a:noAutofit/>
          </a:bodyPr>
          <a:lstStyle/>
          <a:p>
            <a:pPr algn="l"/>
            <a:r>
              <a:rPr sz="1200" b="0">
                <a:solidFill>
                  <a:srgbClr val="6B7280"/>
                </a:solidFill>
                <a:latin typeface="Avenir Light"/>
              </a:rPr>
              <a:t>Source: notes.md, Methods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assertion_evidence">
    <p:bg>
      <p:bgPr>
        <a:solidFill>
          <a:srgbClr val="FFFFFF"/>
        </a:solidFill>
        <a:effectLst/>
      </p:bgPr>
    </p:bg>
    <p:spTree>
      <p:nvGrpSpPr>
        <p:cNvPr id="1" name=""/>
        <p:cNvGrpSpPr/>
        <p:nvPr/>
      </p:nvGrpSpPr>
      <p:grpSpPr/>
      <p:sp>
        <p:nvSpPr>
          <p:cNvPr id="2" name="Title"/>
          <p:cNvSpPr>
            <a:spLocks noGrp="1"/>
          </p:cNvSpPr>
          <p:nvPr>
            <p:ph type="title"/>
          </p:nvPr>
        </p:nvSpPr>
        <p:spPr>
          <a:xfrm>
            <a:off x="731520" y="274320"/>
            <a:ext cx="10728655" cy="868680"/>
          </a:xfrm>
        </p:spPr>
        <p:txBody>
          <a:bodyPr wrap="square" anchor="t" lIns="0" rIns="0" tIns="0" bIns="0">
            <a:noAutofit/>
          </a:bodyPr>
          <a:lstStyle/>
          <a:p>
            <a:pPr algn="l"/>
            <a:r>
              <a:rPr sz="2800" b="0">
                <a:solidFill>
                  <a:srgbClr val="111111"/>
                </a:solidFill>
                <a:latin typeface="Avenir Light"/>
              </a:rPr>
              <a:t>The reference design gave a signal that rose with concentration over 60 minutes</a:t>
            </a:r>
          </a:p>
        </p:txBody>
      </p:sp>
      <p:pic>
        <p:nvPicPr>
          <p:cNvPr id="3" name="Evidence picture" descr="Line chart of the binding signal of one reference design over 60 minutes at 1, 5 and 25 uM; the 25 uM curve ends highest, at 94.5 au."/>
          <p:cNvPicPr>
            <a:picLocks noChangeAspect="1"/>
          </p:cNvPicPr>
          <p:nvPr/>
        </p:nvPicPr>
        <p:blipFill>
          <a:blip r:embed="rId2"/>
          <a:stretch>
            <a:fillRect/>
          </a:stretch>
        </p:blipFill>
        <p:spPr>
          <a:xfrm>
            <a:off x="731520" y="1372743"/>
            <a:ext cx="7040880" cy="4752594"/>
          </a:xfrm>
          <a:prstGeom prst="rect">
            <a:avLst/>
          </a:prstGeom>
        </p:spPr>
      </p:pic>
      <p:sp>
        <p:nvSpPr>
          <p:cNvPr id="4" name="Callout rule"/>
          <p:cNvSpPr/>
          <p:nvPr/>
        </p:nvSpPr>
        <p:spPr>
          <a:xfrm>
            <a:off x="8183879" y="1463040"/>
            <a:ext cx="27432" cy="1097280"/>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llout"/>
          <p:cNvSpPr txBox="1"/>
          <p:nvPr/>
        </p:nvSpPr>
        <p:spPr>
          <a:xfrm>
            <a:off x="8412479" y="1463040"/>
            <a:ext cx="3047696" cy="1097280"/>
          </a:xfrm>
          <a:prstGeom prst="rect">
            <a:avLst/>
          </a:prstGeom>
          <a:noFill/>
        </p:spPr>
        <p:txBody>
          <a:bodyPr wrap="square" anchor="t" lIns="0" rIns="0" tIns="0" bIns="0">
            <a:noAutofit/>
          </a:bodyPr>
          <a:lstStyle/>
          <a:p>
            <a:pPr algn="l"/>
            <a:r>
              <a:rPr sz="2000" b="0">
                <a:solidFill>
                  <a:srgbClr val="111111"/>
                </a:solidFill>
                <a:latin typeface="Avenir Light"/>
              </a:rPr>
              <a:t>25 uM reads 94.5 au at 60 min</a:t>
            </a:r>
          </a:p>
        </p:txBody>
      </p:sp>
      <p:sp>
        <p:nvSpPr>
          <p:cNvPr id="6" name="Callout rule"/>
          <p:cNvSpPr/>
          <p:nvPr/>
        </p:nvSpPr>
        <p:spPr>
          <a:xfrm>
            <a:off x="8183879" y="2880360"/>
            <a:ext cx="27432" cy="1097280"/>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llout"/>
          <p:cNvSpPr txBox="1"/>
          <p:nvPr/>
        </p:nvSpPr>
        <p:spPr>
          <a:xfrm>
            <a:off x="8412479" y="2880360"/>
            <a:ext cx="3047696" cy="1097280"/>
          </a:xfrm>
          <a:prstGeom prst="rect">
            <a:avLst/>
          </a:prstGeom>
          <a:noFill/>
        </p:spPr>
        <p:txBody>
          <a:bodyPr wrap="square" anchor="t" lIns="0" rIns="0" tIns="0" bIns="0">
            <a:noAutofit/>
          </a:bodyPr>
          <a:lstStyle/>
          <a:p>
            <a:pPr algn="l"/>
            <a:r>
              <a:rPr sz="2000" b="0">
                <a:solidFill>
                  <a:srgbClr val="111111"/>
                </a:solidFill>
                <a:latin typeface="Avenir Light"/>
              </a:rPr>
              <a:t>1 uM reads 27.7 au</a:t>
            </a:r>
          </a:p>
        </p:txBody>
      </p:sp>
      <p:sp>
        <p:nvSpPr>
          <p:cNvPr id="8" name="Source"/>
          <p:cNvSpPr txBox="1"/>
          <p:nvPr/>
        </p:nvSpPr>
        <p:spPr>
          <a:xfrm>
            <a:off x="731520" y="6355080"/>
            <a:ext cx="10728655" cy="274320"/>
          </a:xfrm>
          <a:prstGeom prst="rect">
            <a:avLst/>
          </a:prstGeom>
          <a:noFill/>
        </p:spPr>
        <p:txBody>
          <a:bodyPr wrap="square" anchor="t" lIns="0" rIns="0" tIns="0" bIns="0">
            <a:noAutofit/>
          </a:bodyPr>
          <a:lstStyle/>
          <a:p>
            <a:pPr algn="l"/>
            <a:r>
              <a:rPr sz="1200" b="0">
                <a:solidFill>
                  <a:srgbClr val="6B7280"/>
                </a:solidFill>
                <a:latin typeface="Avenir Light"/>
              </a:rPr>
              <a:t>Source: results.csv, fig8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assertion_evidence">
    <p:bg>
      <p:bgPr>
        <a:solidFill>
          <a:srgbClr val="FFFFFF"/>
        </a:solidFill>
        <a:effectLst/>
      </p:bgPr>
    </p:bg>
    <p:spTree>
      <p:nvGrpSpPr>
        <p:cNvPr id="1" name=""/>
        <p:cNvGrpSpPr/>
        <p:nvPr/>
      </p:nvGrpSpPr>
      <p:grpSpPr/>
      <p:sp>
        <p:nvSpPr>
          <p:cNvPr id="2" name="Title"/>
          <p:cNvSpPr>
            <a:spLocks noGrp="1"/>
          </p:cNvSpPr>
          <p:nvPr>
            <p:ph type="title"/>
          </p:nvPr>
        </p:nvSpPr>
        <p:spPr>
          <a:xfrm>
            <a:off x="731520" y="274320"/>
            <a:ext cx="10728655" cy="868680"/>
          </a:xfrm>
        </p:spPr>
        <p:txBody>
          <a:bodyPr wrap="square" anchor="t" lIns="0" rIns="0" tIns="0" bIns="0">
            <a:noAutofit/>
          </a:bodyPr>
          <a:lstStyle/>
          <a:p>
            <a:pPr algn="l"/>
            <a:r>
              <a:rPr sz="2800" b="0">
                <a:solidFill>
                  <a:srgbClr val="111111"/>
                </a:solidFill>
                <a:latin typeface="Avenir Light"/>
              </a:rPr>
              <a:t>The hit rate of the Heron set rose from 20 to 70 percent across four rounds</a:t>
            </a:r>
          </a:p>
        </p:txBody>
      </p:sp>
      <p:pic>
        <p:nvPicPr>
          <p:cNvPr id="3" name="Evidence picture" descr="Bar chart of the hit rate of the Heron set in four rounds, rising from 20 percent in Round 1 to 70 percent in Round 4."/>
          <p:cNvPicPr>
            <a:picLocks noChangeAspect="1"/>
          </p:cNvPicPr>
          <p:nvPr/>
        </p:nvPicPr>
        <p:blipFill>
          <a:blip r:embed="rId2"/>
          <a:stretch>
            <a:fillRect/>
          </a:stretch>
        </p:blipFill>
        <p:spPr>
          <a:xfrm>
            <a:off x="731520" y="1372743"/>
            <a:ext cx="7040880" cy="4752594"/>
          </a:xfrm>
          <a:prstGeom prst="rect">
            <a:avLst/>
          </a:prstGeom>
        </p:spPr>
      </p:pic>
      <p:sp>
        <p:nvSpPr>
          <p:cNvPr id="4" name="Callout rule"/>
          <p:cNvSpPr/>
          <p:nvPr/>
        </p:nvSpPr>
        <p:spPr>
          <a:xfrm>
            <a:off x="8183879" y="1463040"/>
            <a:ext cx="27432" cy="1097280"/>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llout"/>
          <p:cNvSpPr txBox="1"/>
          <p:nvPr/>
        </p:nvSpPr>
        <p:spPr>
          <a:xfrm>
            <a:off x="8412479" y="1463040"/>
            <a:ext cx="3047696" cy="1097280"/>
          </a:xfrm>
          <a:prstGeom prst="rect">
            <a:avLst/>
          </a:prstGeom>
          <a:noFill/>
        </p:spPr>
        <p:txBody>
          <a:bodyPr wrap="square" anchor="t" lIns="0" rIns="0" tIns="0" bIns="0">
            <a:noAutofit/>
          </a:bodyPr>
          <a:lstStyle/>
          <a:p>
            <a:pPr algn="l"/>
            <a:r>
              <a:rPr sz="2000" b="0">
                <a:solidFill>
                  <a:srgbClr val="111111"/>
                </a:solidFill>
                <a:latin typeface="Avenir Light"/>
              </a:rPr>
              <a:t>Round 4 reaches 70 percent</a:t>
            </a:r>
          </a:p>
        </p:txBody>
      </p:sp>
      <p:sp>
        <p:nvSpPr>
          <p:cNvPr id="6" name="Source"/>
          <p:cNvSpPr txBox="1"/>
          <p:nvPr/>
        </p:nvSpPr>
        <p:spPr>
          <a:xfrm>
            <a:off x="731520" y="6355080"/>
            <a:ext cx="10728655" cy="274320"/>
          </a:xfrm>
          <a:prstGeom prst="rect">
            <a:avLst/>
          </a:prstGeom>
          <a:noFill/>
        </p:spPr>
        <p:txBody>
          <a:bodyPr wrap="square" anchor="t" lIns="0" rIns="0" tIns="0" bIns="0">
            <a:noAutofit/>
          </a:bodyPr>
          <a:lstStyle/>
          <a:p>
            <a:pPr algn="l"/>
            <a:r>
              <a:rPr sz="1200" b="0">
                <a:solidFill>
                  <a:srgbClr val="6B7280"/>
                </a:solidFill>
                <a:latin typeface="Avenir Light"/>
              </a:rPr>
              <a:t>Source: results.csv, fig1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assertion_evidence">
    <p:bg>
      <p:bgPr>
        <a:solidFill>
          <a:srgbClr val="FFFFFF"/>
        </a:solidFill>
        <a:effectLst/>
      </p:bgPr>
    </p:bg>
    <p:spTree>
      <p:nvGrpSpPr>
        <p:cNvPr id="1" name=""/>
        <p:cNvGrpSpPr/>
        <p:nvPr/>
      </p:nvGrpSpPr>
      <p:grpSpPr/>
      <p:sp>
        <p:nvSpPr>
          <p:cNvPr id="2" name="Title"/>
          <p:cNvSpPr>
            <a:spLocks noGrp="1"/>
          </p:cNvSpPr>
          <p:nvPr>
            <p:ph type="title"/>
          </p:nvPr>
        </p:nvSpPr>
        <p:spPr>
          <a:xfrm>
            <a:off x="731520" y="274320"/>
            <a:ext cx="10728655" cy="868680"/>
          </a:xfrm>
        </p:spPr>
        <p:txBody>
          <a:bodyPr wrap="square" anchor="t" lIns="0" rIns="0" tIns="0" bIns="0">
            <a:noAutofit/>
          </a:bodyPr>
          <a:lstStyle/>
          <a:p>
            <a:pPr algn="l"/>
            <a:r>
              <a:rPr sz="2800" b="0">
                <a:solidFill>
                  <a:srgbClr val="111111"/>
                </a:solidFill>
                <a:latin typeface="Avenir Light"/>
              </a:rPr>
              <a:t>Binding signal rose with the Osprey score across the 40 designs</a:t>
            </a:r>
          </a:p>
        </p:txBody>
      </p:sp>
      <p:pic>
        <p:nvPicPr>
          <p:cNvPr id="3" name="Evidence picture" descr="Scatter plot of binding signal against Osprey score for 40 designs; the signal rises with the score, and the designs with a score of 9 or more lie between 60.3 and 79.2 au."/>
          <p:cNvPicPr>
            <a:picLocks noChangeAspect="1"/>
          </p:cNvPicPr>
          <p:nvPr/>
        </p:nvPicPr>
        <p:blipFill>
          <a:blip r:embed="rId2"/>
          <a:stretch>
            <a:fillRect/>
          </a:stretch>
        </p:blipFill>
        <p:spPr>
          <a:xfrm>
            <a:off x="731520" y="1372743"/>
            <a:ext cx="7040880" cy="4752594"/>
          </a:xfrm>
          <a:prstGeom prst="rect">
            <a:avLst/>
          </a:prstGeom>
        </p:spPr>
      </p:pic>
      <p:sp>
        <p:nvSpPr>
          <p:cNvPr id="4" name="Callout rule"/>
          <p:cNvSpPr/>
          <p:nvPr/>
        </p:nvSpPr>
        <p:spPr>
          <a:xfrm>
            <a:off x="8183879" y="1463040"/>
            <a:ext cx="27432" cy="1097280"/>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llout"/>
          <p:cNvSpPr txBox="1"/>
          <p:nvPr/>
        </p:nvSpPr>
        <p:spPr>
          <a:xfrm>
            <a:off x="8412479" y="1463040"/>
            <a:ext cx="3047696" cy="1097280"/>
          </a:xfrm>
          <a:prstGeom prst="rect">
            <a:avLst/>
          </a:prstGeom>
          <a:noFill/>
        </p:spPr>
        <p:txBody>
          <a:bodyPr wrap="square" anchor="t" lIns="0" rIns="0" tIns="0" bIns="0">
            <a:noAutofit/>
          </a:bodyPr>
          <a:lstStyle/>
          <a:p>
            <a:pPr algn="l"/>
            <a:r>
              <a:rPr sz="2000" b="0">
                <a:solidFill>
                  <a:srgbClr val="111111"/>
                </a:solidFill>
                <a:latin typeface="Avenir Light"/>
              </a:rPr>
              <a:t>Scores of 9 or more: 60.3 to 79.2 au</a:t>
            </a:r>
          </a:p>
        </p:txBody>
      </p:sp>
      <p:sp>
        <p:nvSpPr>
          <p:cNvPr id="6" name="Callout rule"/>
          <p:cNvSpPr/>
          <p:nvPr/>
        </p:nvSpPr>
        <p:spPr>
          <a:xfrm>
            <a:off x="8183879" y="2880360"/>
            <a:ext cx="27432" cy="1097280"/>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llout"/>
          <p:cNvSpPr txBox="1"/>
          <p:nvPr/>
        </p:nvSpPr>
        <p:spPr>
          <a:xfrm>
            <a:off x="8412479" y="2880360"/>
            <a:ext cx="3047696" cy="1097280"/>
          </a:xfrm>
          <a:prstGeom prst="rect">
            <a:avLst/>
          </a:prstGeom>
          <a:noFill/>
        </p:spPr>
        <p:txBody>
          <a:bodyPr wrap="square" anchor="t" lIns="0" rIns="0" tIns="0" bIns="0">
            <a:noAutofit/>
          </a:bodyPr>
          <a:lstStyle/>
          <a:p>
            <a:pPr algn="l"/>
            <a:r>
              <a:rPr sz="2000" b="0">
                <a:solidFill>
                  <a:srgbClr val="111111"/>
                </a:solidFill>
                <a:latin typeface="Avenir Light"/>
              </a:rPr>
              <a:t>All designs passed the filter at 4</a:t>
            </a:r>
          </a:p>
        </p:txBody>
      </p:sp>
      <p:sp>
        <p:nvSpPr>
          <p:cNvPr id="8" name="Source"/>
          <p:cNvSpPr txBox="1"/>
          <p:nvPr/>
        </p:nvSpPr>
        <p:spPr>
          <a:xfrm>
            <a:off x="731520" y="6355080"/>
            <a:ext cx="10728655" cy="274320"/>
          </a:xfrm>
          <a:prstGeom prst="rect">
            <a:avLst/>
          </a:prstGeom>
          <a:noFill/>
        </p:spPr>
        <p:txBody>
          <a:bodyPr wrap="square" anchor="t" lIns="0" rIns="0" tIns="0" bIns="0">
            <a:noAutofit/>
          </a:bodyPr>
          <a:lstStyle/>
          <a:p>
            <a:pPr algn="l"/>
            <a:r>
              <a:rPr sz="1200" b="0">
                <a:solidFill>
                  <a:srgbClr val="6B7280"/>
                </a:solidFill>
                <a:latin typeface="Avenir Light"/>
              </a:rPr>
              <a:t>Source: results.csv, fig3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assertion_evidence">
    <p:bg>
      <p:bgPr>
        <a:solidFill>
          <a:srgbClr val="FFFFFF"/>
        </a:solidFill>
        <a:effectLst/>
      </p:bgPr>
    </p:bg>
    <p:spTree>
      <p:nvGrpSpPr>
        <p:cNvPr id="1" name=""/>
        <p:cNvGrpSpPr/>
        <p:nvPr/>
      </p:nvGrpSpPr>
      <p:grpSpPr/>
      <p:sp>
        <p:nvSpPr>
          <p:cNvPr id="2" name="Title"/>
          <p:cNvSpPr>
            <a:spLocks noGrp="1"/>
          </p:cNvSpPr>
          <p:nvPr>
            <p:ph type="title"/>
          </p:nvPr>
        </p:nvSpPr>
        <p:spPr>
          <a:xfrm>
            <a:off x="731520" y="274320"/>
            <a:ext cx="10728655" cy="868680"/>
          </a:xfrm>
        </p:spPr>
        <p:txBody>
          <a:bodyPr wrap="square" anchor="t" lIns="0" rIns="0" tIns="0" bIns="0">
            <a:noAutofit/>
          </a:bodyPr>
          <a:lstStyle/>
          <a:p>
            <a:pPr algn="l"/>
            <a:r>
              <a:rPr sz="2800" b="0">
                <a:solidFill>
                  <a:srgbClr val="111111"/>
                </a:solidFill>
                <a:latin typeface="Avenir Light"/>
              </a:rPr>
              <a:t>Designed peptides beat control peptides on all five targets</a:t>
            </a:r>
          </a:p>
        </p:txBody>
      </p:sp>
      <p:pic>
        <p:nvPicPr>
          <p:cNvPr id="3" name="Evidence picture" descr="Paired bar chart of the hit rate on five targets for designed and control peptides; the designed bars are higher on every target and reach 80 percent on Target C."/>
          <p:cNvPicPr>
            <a:picLocks noChangeAspect="1"/>
          </p:cNvPicPr>
          <p:nvPr/>
        </p:nvPicPr>
        <p:blipFill>
          <a:blip r:embed="rId2"/>
          <a:stretch>
            <a:fillRect/>
          </a:stretch>
        </p:blipFill>
        <p:spPr>
          <a:xfrm>
            <a:off x="731520" y="1372743"/>
            <a:ext cx="7040880" cy="4752594"/>
          </a:xfrm>
          <a:prstGeom prst="rect">
            <a:avLst/>
          </a:prstGeom>
        </p:spPr>
      </p:pic>
      <p:sp>
        <p:nvSpPr>
          <p:cNvPr id="4" name="Callout rule"/>
          <p:cNvSpPr/>
          <p:nvPr/>
        </p:nvSpPr>
        <p:spPr>
          <a:xfrm>
            <a:off x="8183879" y="1463040"/>
            <a:ext cx="27432" cy="1097280"/>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llout"/>
          <p:cNvSpPr txBox="1"/>
          <p:nvPr/>
        </p:nvSpPr>
        <p:spPr>
          <a:xfrm>
            <a:off x="8412479" y="1463040"/>
            <a:ext cx="3047696" cy="1097280"/>
          </a:xfrm>
          <a:prstGeom prst="rect">
            <a:avLst/>
          </a:prstGeom>
          <a:noFill/>
        </p:spPr>
        <p:txBody>
          <a:bodyPr wrap="square" anchor="t" lIns="0" rIns="0" tIns="0" bIns="0">
            <a:noAutofit/>
          </a:bodyPr>
          <a:lstStyle/>
          <a:p>
            <a:pPr algn="l"/>
            <a:r>
              <a:rPr sz="2000" b="0">
                <a:solidFill>
                  <a:srgbClr val="111111"/>
                </a:solidFill>
                <a:latin typeface="Avenir Light"/>
              </a:rPr>
              <a:t>Target C: 80 against 10 percent</a:t>
            </a:r>
          </a:p>
        </p:txBody>
      </p:sp>
      <p:sp>
        <p:nvSpPr>
          <p:cNvPr id="6" name="Callout rule"/>
          <p:cNvSpPr/>
          <p:nvPr/>
        </p:nvSpPr>
        <p:spPr>
          <a:xfrm>
            <a:off x="8183879" y="2880360"/>
            <a:ext cx="27432" cy="1097280"/>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llout"/>
          <p:cNvSpPr txBox="1"/>
          <p:nvPr/>
        </p:nvSpPr>
        <p:spPr>
          <a:xfrm>
            <a:off x="8412479" y="2880360"/>
            <a:ext cx="3047696" cy="1097280"/>
          </a:xfrm>
          <a:prstGeom prst="rect">
            <a:avLst/>
          </a:prstGeom>
          <a:noFill/>
        </p:spPr>
        <p:txBody>
          <a:bodyPr wrap="square" anchor="t" lIns="0" rIns="0" tIns="0" bIns="0">
            <a:noAutofit/>
          </a:bodyPr>
          <a:lstStyle/>
          <a:p>
            <a:pPr algn="l"/>
            <a:r>
              <a:rPr sz="2000" b="0">
                <a:solidFill>
                  <a:srgbClr val="111111"/>
                </a:solidFill>
                <a:latin typeface="Avenir Light"/>
              </a:rPr>
              <a:t>Controls not matched for length</a:t>
            </a:r>
          </a:p>
        </p:txBody>
      </p:sp>
      <p:sp>
        <p:nvSpPr>
          <p:cNvPr id="8" name="Source"/>
          <p:cNvSpPr txBox="1"/>
          <p:nvPr/>
        </p:nvSpPr>
        <p:spPr>
          <a:xfrm>
            <a:off x="731520" y="6355080"/>
            <a:ext cx="10728655" cy="274320"/>
          </a:xfrm>
          <a:prstGeom prst="rect">
            <a:avLst/>
          </a:prstGeom>
          <a:noFill/>
        </p:spPr>
        <p:txBody>
          <a:bodyPr wrap="square" anchor="t" lIns="0" rIns="0" tIns="0" bIns="0">
            <a:noAutofit/>
          </a:bodyPr>
          <a:lstStyle/>
          <a:p>
            <a:pPr algn="l"/>
            <a:r>
              <a:rPr sz="1200" b="0">
                <a:solidFill>
                  <a:srgbClr val="6B7280"/>
                </a:solidFill>
                <a:latin typeface="Avenir Light"/>
              </a:rPr>
              <a:t>Source: results.csv, fig2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assertion_evidence">
    <p:bg>
      <p:bgPr>
        <a:solidFill>
          <a:srgbClr val="FFFFFF"/>
        </a:solidFill>
        <a:effectLst/>
      </p:bgPr>
    </p:bg>
    <p:spTree>
      <p:nvGrpSpPr>
        <p:cNvPr id="1" name=""/>
        <p:cNvGrpSpPr/>
        <p:nvPr/>
      </p:nvGrpSpPr>
      <p:grpSpPr/>
      <p:sp>
        <p:nvSpPr>
          <p:cNvPr id="2" name="Title"/>
          <p:cNvSpPr>
            <a:spLocks noGrp="1"/>
          </p:cNvSpPr>
          <p:nvPr>
            <p:ph type="title"/>
          </p:nvPr>
        </p:nvSpPr>
        <p:spPr>
          <a:xfrm>
            <a:off x="731520" y="274320"/>
            <a:ext cx="10728655" cy="868680"/>
          </a:xfrm>
        </p:spPr>
        <p:txBody>
          <a:bodyPr wrap="square" anchor="t" lIns="0" rIns="0" tIns="0" bIns="0">
            <a:noAutofit/>
          </a:bodyPr>
          <a:lstStyle/>
          <a:p>
            <a:pPr algn="l"/>
            <a:r>
              <a:rPr sz="2800" b="0">
                <a:solidFill>
                  <a:srgbClr val="111111"/>
                </a:solidFill>
                <a:latin typeface="Avenir Light"/>
              </a:rPr>
              <a:t>The Batched pipeline cost 41 units per design against 100 for the Manual pipeline</a:t>
            </a:r>
          </a:p>
        </p:txBody>
      </p:sp>
      <p:pic>
        <p:nvPicPr>
          <p:cNvPr id="3" name="Evidence picture" descr="Bar chart of the cost per design of three pipelines: Manual 100 units, Filtered 64 units and Batched 41 units."/>
          <p:cNvPicPr>
            <a:picLocks noChangeAspect="1"/>
          </p:cNvPicPr>
          <p:nvPr/>
        </p:nvPicPr>
        <p:blipFill>
          <a:blip r:embed="rId2"/>
          <a:stretch>
            <a:fillRect/>
          </a:stretch>
        </p:blipFill>
        <p:spPr>
          <a:xfrm>
            <a:off x="731520" y="1372743"/>
            <a:ext cx="7040880" cy="4752594"/>
          </a:xfrm>
          <a:prstGeom prst="rect">
            <a:avLst/>
          </a:prstGeom>
        </p:spPr>
      </p:pic>
      <p:sp>
        <p:nvSpPr>
          <p:cNvPr id="4" name="Callout rule"/>
          <p:cNvSpPr/>
          <p:nvPr/>
        </p:nvSpPr>
        <p:spPr>
          <a:xfrm>
            <a:off x="8183879" y="1463040"/>
            <a:ext cx="27432" cy="1097280"/>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llout"/>
          <p:cNvSpPr txBox="1"/>
          <p:nvPr/>
        </p:nvSpPr>
        <p:spPr>
          <a:xfrm>
            <a:off x="8412479" y="1463040"/>
            <a:ext cx="3047696" cy="1097280"/>
          </a:xfrm>
          <a:prstGeom prst="rect">
            <a:avLst/>
          </a:prstGeom>
          <a:noFill/>
        </p:spPr>
        <p:txBody>
          <a:bodyPr wrap="square" anchor="t" lIns="0" rIns="0" tIns="0" bIns="0">
            <a:noAutofit/>
          </a:bodyPr>
          <a:lstStyle/>
          <a:p>
            <a:pPr algn="l"/>
            <a:r>
              <a:rPr sz="2000" b="0">
                <a:solidFill>
                  <a:srgbClr val="111111"/>
                </a:solidFill>
                <a:latin typeface="Avenir Light"/>
              </a:rPr>
              <a:t>Batched: 41 units</a:t>
            </a:r>
          </a:p>
        </p:txBody>
      </p:sp>
      <p:sp>
        <p:nvSpPr>
          <p:cNvPr id="6" name="Callout rule"/>
          <p:cNvSpPr/>
          <p:nvPr/>
        </p:nvSpPr>
        <p:spPr>
          <a:xfrm>
            <a:off x="8183879" y="2880360"/>
            <a:ext cx="27432" cy="1097280"/>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llout"/>
          <p:cNvSpPr txBox="1"/>
          <p:nvPr/>
        </p:nvSpPr>
        <p:spPr>
          <a:xfrm>
            <a:off x="8412479" y="2880360"/>
            <a:ext cx="3047696" cy="1097280"/>
          </a:xfrm>
          <a:prstGeom prst="rect">
            <a:avLst/>
          </a:prstGeom>
          <a:noFill/>
        </p:spPr>
        <p:txBody>
          <a:bodyPr wrap="square" anchor="t" lIns="0" rIns="0" tIns="0" bIns="0">
            <a:noAutofit/>
          </a:bodyPr>
          <a:lstStyle/>
          <a:p>
            <a:pPr algn="l"/>
            <a:r>
              <a:rPr sz="2000" b="0">
                <a:solidFill>
                  <a:srgbClr val="111111"/>
                </a:solidFill>
                <a:latin typeface="Avenir Light"/>
              </a:rPr>
              <a:t>Manual: 100 units</a:t>
            </a:r>
          </a:p>
        </p:txBody>
      </p:sp>
      <p:sp>
        <p:nvSpPr>
          <p:cNvPr id="8" name="Source"/>
          <p:cNvSpPr txBox="1"/>
          <p:nvPr/>
        </p:nvSpPr>
        <p:spPr>
          <a:xfrm>
            <a:off x="731520" y="6355080"/>
            <a:ext cx="10728655" cy="274320"/>
          </a:xfrm>
          <a:prstGeom prst="rect">
            <a:avLst/>
          </a:prstGeom>
          <a:noFill/>
        </p:spPr>
        <p:txBody>
          <a:bodyPr wrap="square" anchor="t" lIns="0" rIns="0" tIns="0" bIns="0">
            <a:noAutofit/>
          </a:bodyPr>
          <a:lstStyle/>
          <a:p>
            <a:pPr algn="l"/>
            <a:r>
              <a:rPr sz="1200" b="0">
                <a:solidFill>
                  <a:srgbClr val="6B7280"/>
                </a:solidFill>
                <a:latin typeface="Avenir Light"/>
              </a:rPr>
              <a:t>Source: results.csv, fig7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take_home">
    <p:bg>
      <p:bgPr>
        <a:solidFill>
          <a:srgbClr val="FFFFFF"/>
        </a:solidFill>
        <a:effectLst/>
      </p:bgPr>
    </p:bg>
    <p:spTree>
      <p:nvGrpSpPr>
        <p:cNvPr id="1" name=""/>
        <p:cNvGrpSpPr/>
        <p:nvPr/>
      </p:nvGrpSpPr>
      <p:grpSpPr/>
      <p:sp>
        <p:nvSpPr>
          <p:cNvPr id="2" name="Title"/>
          <p:cNvSpPr>
            <a:spLocks noGrp="1"/>
          </p:cNvSpPr>
          <p:nvPr>
            <p:ph type="title"/>
          </p:nvPr>
        </p:nvSpPr>
        <p:spPr>
          <a:xfrm>
            <a:off x="731520" y="274320"/>
            <a:ext cx="10728655" cy="868680"/>
          </a:xfrm>
        </p:spPr>
        <p:txBody>
          <a:bodyPr wrap="square" anchor="t" lIns="0" rIns="0" tIns="0" bIns="0">
            <a:noAutofit/>
          </a:bodyPr>
          <a:lstStyle/>
          <a:p>
            <a:pPr algn="l"/>
            <a:r>
              <a:rPr sz="2800" b="0">
                <a:solidFill>
                  <a:srgbClr val="111111"/>
                </a:solidFill>
                <a:latin typeface="Avenir Light"/>
              </a:rPr>
              <a:t>The hit rate rose, the designs beat the control and the Batched pipeline cost less</a:t>
            </a:r>
          </a:p>
        </p:txBody>
      </p:sp>
      <p:sp>
        <p:nvSpPr>
          <p:cNvPr id="3" name="Claim mark"/>
          <p:cNvSpPr/>
          <p:nvPr/>
        </p:nvSpPr>
        <p:spPr>
          <a:xfrm>
            <a:off x="731520" y="1755648"/>
            <a:ext cx="164592" cy="164592"/>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Claim"/>
          <p:cNvSpPr txBox="1"/>
          <p:nvPr/>
        </p:nvSpPr>
        <p:spPr>
          <a:xfrm>
            <a:off x="1143000" y="1645919"/>
            <a:ext cx="10317175" cy="548640"/>
          </a:xfrm>
          <a:prstGeom prst="rect">
            <a:avLst/>
          </a:prstGeom>
          <a:noFill/>
        </p:spPr>
        <p:txBody>
          <a:bodyPr wrap="square" anchor="t" lIns="0" rIns="0" tIns="0" bIns="0">
            <a:noAutofit/>
          </a:bodyPr>
          <a:lstStyle/>
          <a:p>
            <a:pPr algn="l"/>
            <a:r>
              <a:rPr sz="2400" b="0">
                <a:solidFill>
                  <a:srgbClr val="111111"/>
                </a:solidFill>
                <a:latin typeface="Avenir Light"/>
              </a:rPr>
              <a:t>The hit rate rose from 20 percent to 70 percent in four rounds</a:t>
            </a:r>
          </a:p>
        </p:txBody>
      </p:sp>
      <p:sp>
        <p:nvSpPr>
          <p:cNvPr id="5" name="Baseline"/>
          <p:cNvSpPr txBox="1"/>
          <p:nvPr/>
        </p:nvSpPr>
        <p:spPr>
          <a:xfrm>
            <a:off x="1143000" y="2212848"/>
            <a:ext cx="10317175" cy="460247"/>
          </a:xfrm>
          <a:prstGeom prst="rect">
            <a:avLst/>
          </a:prstGeom>
          <a:noFill/>
        </p:spPr>
        <p:txBody>
          <a:bodyPr wrap="square" anchor="t" lIns="0" rIns="0" tIns="0" bIns="0">
            <a:noAutofit/>
          </a:bodyPr>
          <a:lstStyle/>
          <a:p>
            <a:pPr algn="l"/>
            <a:r>
              <a:rPr sz="2000" b="0">
                <a:solidFill>
                  <a:srgbClr val="6B7280"/>
                </a:solidFill>
                <a:latin typeface="Avenir Light"/>
              </a:rPr>
              <a:t>Round 1 gave 20 percent.</a:t>
            </a:r>
          </a:p>
        </p:txBody>
      </p:sp>
      <p:sp>
        <p:nvSpPr>
          <p:cNvPr id="6" name="Claim mark"/>
          <p:cNvSpPr/>
          <p:nvPr/>
        </p:nvSpPr>
        <p:spPr>
          <a:xfrm>
            <a:off x="731520" y="3084575"/>
            <a:ext cx="164592" cy="164592"/>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laim"/>
          <p:cNvSpPr txBox="1"/>
          <p:nvPr/>
        </p:nvSpPr>
        <p:spPr>
          <a:xfrm>
            <a:off x="1143000" y="2974847"/>
            <a:ext cx="10317175" cy="914400"/>
          </a:xfrm>
          <a:prstGeom prst="rect">
            <a:avLst/>
          </a:prstGeom>
          <a:noFill/>
        </p:spPr>
        <p:txBody>
          <a:bodyPr wrap="square" anchor="t" lIns="0" rIns="0" tIns="0" bIns="0">
            <a:noAutofit/>
          </a:bodyPr>
          <a:lstStyle/>
          <a:p>
            <a:pPr algn="l"/>
            <a:r>
              <a:rPr sz="2400" b="0">
                <a:solidFill>
                  <a:srgbClr val="111111"/>
                </a:solidFill>
                <a:latin typeface="Avenir Light"/>
              </a:rPr>
              <a:t>On Target C the designed set beat the control, 80 percent to 10 percent</a:t>
            </a:r>
          </a:p>
        </p:txBody>
      </p:sp>
      <p:sp>
        <p:nvSpPr>
          <p:cNvPr id="8" name="Baseline"/>
          <p:cNvSpPr txBox="1"/>
          <p:nvPr/>
        </p:nvSpPr>
        <p:spPr>
          <a:xfrm>
            <a:off x="1143000" y="3907535"/>
            <a:ext cx="10317175" cy="460247"/>
          </a:xfrm>
          <a:prstGeom prst="rect">
            <a:avLst/>
          </a:prstGeom>
          <a:noFill/>
        </p:spPr>
        <p:txBody>
          <a:bodyPr wrap="square" anchor="t" lIns="0" rIns="0" tIns="0" bIns="0">
            <a:noAutofit/>
          </a:bodyPr>
          <a:lstStyle/>
          <a:p>
            <a:pPr algn="l"/>
            <a:r>
              <a:rPr sz="2000" b="0">
                <a:solidFill>
                  <a:srgbClr val="6B7280"/>
                </a:solidFill>
                <a:latin typeface="Avenir Light"/>
              </a:rPr>
              <a:t>The control reached 10 percent.</a:t>
            </a:r>
          </a:p>
        </p:txBody>
      </p:sp>
      <p:sp>
        <p:nvSpPr>
          <p:cNvPr id="9" name="Claim mark"/>
          <p:cNvSpPr/>
          <p:nvPr/>
        </p:nvSpPr>
        <p:spPr>
          <a:xfrm>
            <a:off x="731520" y="4779264"/>
            <a:ext cx="164592" cy="164592"/>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Claim"/>
          <p:cNvSpPr txBox="1"/>
          <p:nvPr/>
        </p:nvSpPr>
        <p:spPr>
          <a:xfrm>
            <a:off x="1143000" y="4669536"/>
            <a:ext cx="10317175" cy="548640"/>
          </a:xfrm>
          <a:prstGeom prst="rect">
            <a:avLst/>
          </a:prstGeom>
          <a:noFill/>
        </p:spPr>
        <p:txBody>
          <a:bodyPr wrap="square" anchor="t" lIns="0" rIns="0" tIns="0" bIns="0">
            <a:noAutofit/>
          </a:bodyPr>
          <a:lstStyle/>
          <a:p>
            <a:pPr algn="l"/>
            <a:r>
              <a:rPr sz="2400" b="0">
                <a:solidFill>
                  <a:srgbClr val="111111"/>
                </a:solidFill>
                <a:latin typeface="Avenir Light"/>
              </a:rPr>
              <a:t>The Batched pipeline cost 41 units per design</a:t>
            </a:r>
          </a:p>
        </p:txBody>
      </p:sp>
      <p:sp>
        <p:nvSpPr>
          <p:cNvPr id="11" name="Baseline"/>
          <p:cNvSpPr txBox="1"/>
          <p:nvPr/>
        </p:nvSpPr>
        <p:spPr>
          <a:xfrm>
            <a:off x="1143000" y="5236463"/>
            <a:ext cx="10317175" cy="460247"/>
          </a:xfrm>
          <a:prstGeom prst="rect">
            <a:avLst/>
          </a:prstGeom>
          <a:noFill/>
        </p:spPr>
        <p:txBody>
          <a:bodyPr wrap="square" anchor="t" lIns="0" rIns="0" tIns="0" bIns="0">
            <a:noAutofit/>
          </a:bodyPr>
          <a:lstStyle/>
          <a:p>
            <a:pPr algn="l"/>
            <a:r>
              <a:rPr sz="2000" b="0">
                <a:solidFill>
                  <a:srgbClr val="6B7280"/>
                </a:solidFill>
                <a:latin typeface="Avenir Light"/>
              </a:rPr>
              <a:t>The Manual pipeline cost 100 units.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backup">
    <p:bg>
      <p:bgPr>
        <a:solidFill>
          <a:srgbClr val="FFFFFF"/>
        </a:solidFill>
        <a:effectLst/>
      </p:bgPr>
    </p:bg>
    <p:spTree>
      <p:nvGrpSpPr>
        <p:cNvPr id="1" name=""/>
        <p:cNvGrpSpPr/>
        <p:nvPr/>
      </p:nvGrpSpPr>
      <p:grpSpPr/>
      <p:sp>
        <p:nvSpPr>
          <p:cNvPr id="2" name="Title"/>
          <p:cNvSpPr>
            <a:spLocks noGrp="1"/>
          </p:cNvSpPr>
          <p:nvPr>
            <p:ph type="title"/>
          </p:nvPr>
        </p:nvSpPr>
        <p:spPr>
          <a:xfrm>
            <a:off x="731520" y="274320"/>
            <a:ext cx="10728655" cy="868680"/>
          </a:xfrm>
        </p:spPr>
        <p:txBody>
          <a:bodyPr wrap="square" anchor="t" lIns="0" rIns="0" tIns="0" bIns="0">
            <a:noAutofit/>
          </a:bodyPr>
          <a:lstStyle/>
          <a:p>
            <a:pPr algn="l"/>
            <a:r>
              <a:rPr sz="2800" b="0">
                <a:solidFill>
                  <a:srgbClr val="111111"/>
                </a:solidFill>
                <a:latin typeface="Avenir Light"/>
              </a:rPr>
              <a:t>Binding signal tended to fall as the peptide length rose</a:t>
            </a:r>
          </a:p>
        </p:txBody>
      </p:sp>
      <p:pic>
        <p:nvPicPr>
          <p:cNvPr id="3" name="Evidence picture" descr="Scatter plot of binding signal against peptide length for 40 designs; the signal tends to fall from 60.6 au at 8 residues to 24.9 au at 40 residues."/>
          <p:cNvPicPr>
            <a:picLocks noChangeAspect="1"/>
          </p:cNvPicPr>
          <p:nvPr/>
        </p:nvPicPr>
        <p:blipFill>
          <a:blip r:embed="rId2"/>
          <a:stretch>
            <a:fillRect/>
          </a:stretch>
        </p:blipFill>
        <p:spPr>
          <a:xfrm>
            <a:off x="731520" y="1372743"/>
            <a:ext cx="7040880" cy="4752594"/>
          </a:xfrm>
          <a:prstGeom prst="rect">
            <a:avLst/>
          </a:prstGeom>
        </p:spPr>
      </p:pic>
      <p:sp>
        <p:nvSpPr>
          <p:cNvPr id="4" name="Callout rule"/>
          <p:cNvSpPr/>
          <p:nvPr/>
        </p:nvSpPr>
        <p:spPr>
          <a:xfrm>
            <a:off x="8183879" y="1463040"/>
            <a:ext cx="27432" cy="1097280"/>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llout"/>
          <p:cNvSpPr txBox="1"/>
          <p:nvPr/>
        </p:nvSpPr>
        <p:spPr>
          <a:xfrm>
            <a:off x="8412479" y="1463040"/>
            <a:ext cx="3047696" cy="1097280"/>
          </a:xfrm>
          <a:prstGeom prst="rect">
            <a:avLst/>
          </a:prstGeom>
          <a:noFill/>
        </p:spPr>
        <p:txBody>
          <a:bodyPr wrap="square" anchor="t" lIns="0" rIns="0" tIns="0" bIns="0">
            <a:noAutofit/>
          </a:bodyPr>
          <a:lstStyle/>
          <a:p>
            <a:pPr algn="l"/>
            <a:r>
              <a:rPr sz="2000" b="0">
                <a:solidFill>
                  <a:srgbClr val="111111"/>
                </a:solidFill>
                <a:latin typeface="Avenir Light"/>
              </a:rPr>
              <a:t>8 residues gave 60.6 au</a:t>
            </a:r>
          </a:p>
        </p:txBody>
      </p:sp>
      <p:sp>
        <p:nvSpPr>
          <p:cNvPr id="6" name="Callout rule"/>
          <p:cNvSpPr/>
          <p:nvPr/>
        </p:nvSpPr>
        <p:spPr>
          <a:xfrm>
            <a:off x="8183879" y="2880360"/>
            <a:ext cx="27432" cy="1097280"/>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llout"/>
          <p:cNvSpPr txBox="1"/>
          <p:nvPr/>
        </p:nvSpPr>
        <p:spPr>
          <a:xfrm>
            <a:off x="8412479" y="2880360"/>
            <a:ext cx="3047696" cy="1097280"/>
          </a:xfrm>
          <a:prstGeom prst="rect">
            <a:avLst/>
          </a:prstGeom>
          <a:noFill/>
        </p:spPr>
        <p:txBody>
          <a:bodyPr wrap="square" anchor="t" lIns="0" rIns="0" tIns="0" bIns="0">
            <a:noAutofit/>
          </a:bodyPr>
          <a:lstStyle/>
          <a:p>
            <a:pPr algn="l"/>
            <a:r>
              <a:rPr sz="2000" b="0">
                <a:solidFill>
                  <a:srgbClr val="111111"/>
                </a:solidFill>
                <a:latin typeface="Avenir Light"/>
              </a:rPr>
              <a:t>40 residues gave 24.9 au</a:t>
            </a:r>
          </a:p>
        </p:txBody>
      </p:sp>
      <p:sp>
        <p:nvSpPr>
          <p:cNvPr id="8" name="Source"/>
          <p:cNvSpPr txBox="1"/>
          <p:nvPr/>
        </p:nvSpPr>
        <p:spPr>
          <a:xfrm>
            <a:off x="731520" y="6355080"/>
            <a:ext cx="10728655" cy="274320"/>
          </a:xfrm>
          <a:prstGeom prst="rect">
            <a:avLst/>
          </a:prstGeom>
          <a:noFill/>
        </p:spPr>
        <p:txBody>
          <a:bodyPr wrap="square" anchor="t" lIns="0" rIns="0" tIns="0" bIns="0">
            <a:noAutofit/>
          </a:bodyPr>
          <a:lstStyle/>
          <a:p>
            <a:pPr algn="l"/>
            <a:r>
              <a:rPr sz="1200" b="0">
                <a:solidFill>
                  <a:srgbClr val="6B7280"/>
                </a:solidFill>
                <a:latin typeface="Avenir Light"/>
              </a:rPr>
              <a:t>Source: results.csv, fig4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backup">
    <p:bg>
      <p:bgPr>
        <a:solidFill>
          <a:srgbClr val="FFFFFF"/>
        </a:solidFill>
        <a:effectLst/>
      </p:bgPr>
    </p:bg>
    <p:spTree>
      <p:nvGrpSpPr>
        <p:cNvPr id="1" name=""/>
        <p:cNvGrpSpPr/>
        <p:nvPr/>
      </p:nvGrpSpPr>
      <p:grpSpPr/>
      <p:sp>
        <p:nvSpPr>
          <p:cNvPr id="2" name="Title"/>
          <p:cNvSpPr>
            <a:spLocks noGrp="1"/>
          </p:cNvSpPr>
          <p:nvPr>
            <p:ph type="title"/>
          </p:nvPr>
        </p:nvSpPr>
        <p:spPr>
          <a:xfrm>
            <a:off x="731520" y="274320"/>
            <a:ext cx="10728655" cy="868680"/>
          </a:xfrm>
        </p:spPr>
        <p:txBody>
          <a:bodyPr wrap="square" anchor="t" lIns="0" rIns="0" tIns="0" bIns="0">
            <a:noAutofit/>
          </a:bodyPr>
          <a:lstStyle/>
          <a:p>
            <a:pPr algn="l"/>
            <a:r>
              <a:rPr sz="2800" b="0">
                <a:solidFill>
                  <a:srgbClr val="111111"/>
                </a:solidFill>
                <a:latin typeface="Avenir Light"/>
              </a:rPr>
              <a:t>Melting temperature rose with the Osprey score</a:t>
            </a:r>
          </a:p>
        </p:txBody>
      </p:sp>
      <p:pic>
        <p:nvPicPr>
          <p:cNvPr id="3" name="Evidence picture" descr="Scatter plot of melting temperature against Osprey score for 40 designs; the temperature rises with the score and peaks at 81.1 C at a score of 9.3."/>
          <p:cNvPicPr>
            <a:picLocks noChangeAspect="1"/>
          </p:cNvPicPr>
          <p:nvPr/>
        </p:nvPicPr>
        <p:blipFill>
          <a:blip r:embed="rId2"/>
          <a:stretch>
            <a:fillRect/>
          </a:stretch>
        </p:blipFill>
        <p:spPr>
          <a:xfrm>
            <a:off x="731520" y="1372743"/>
            <a:ext cx="7040880" cy="4752594"/>
          </a:xfrm>
          <a:prstGeom prst="rect">
            <a:avLst/>
          </a:prstGeom>
        </p:spPr>
      </p:pic>
      <p:sp>
        <p:nvSpPr>
          <p:cNvPr id="4" name="Callout rule"/>
          <p:cNvSpPr/>
          <p:nvPr/>
        </p:nvSpPr>
        <p:spPr>
          <a:xfrm>
            <a:off x="8183879" y="1463040"/>
            <a:ext cx="27432" cy="1097280"/>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llout"/>
          <p:cNvSpPr txBox="1"/>
          <p:nvPr/>
        </p:nvSpPr>
        <p:spPr>
          <a:xfrm>
            <a:off x="8412479" y="1463040"/>
            <a:ext cx="3047696" cy="1097280"/>
          </a:xfrm>
          <a:prstGeom prst="rect">
            <a:avLst/>
          </a:prstGeom>
          <a:noFill/>
        </p:spPr>
        <p:txBody>
          <a:bodyPr wrap="square" anchor="t" lIns="0" rIns="0" tIns="0" bIns="0">
            <a:noAutofit/>
          </a:bodyPr>
          <a:lstStyle/>
          <a:p>
            <a:pPr algn="l"/>
            <a:r>
              <a:rPr sz="2000" b="0">
                <a:solidFill>
                  <a:srgbClr val="111111"/>
                </a:solidFill>
                <a:latin typeface="Avenir Light"/>
              </a:rPr>
              <a:t>Top: 81.1 C at score 9.3</a:t>
            </a:r>
          </a:p>
        </p:txBody>
      </p:sp>
      <p:sp>
        <p:nvSpPr>
          <p:cNvPr id="6" name="Source"/>
          <p:cNvSpPr txBox="1"/>
          <p:nvPr/>
        </p:nvSpPr>
        <p:spPr>
          <a:xfrm>
            <a:off x="731520" y="6355080"/>
            <a:ext cx="10728655" cy="274320"/>
          </a:xfrm>
          <a:prstGeom prst="rect">
            <a:avLst/>
          </a:prstGeom>
          <a:noFill/>
        </p:spPr>
        <p:txBody>
          <a:bodyPr wrap="square" anchor="t" lIns="0" rIns="0" tIns="0" bIns="0">
            <a:noAutofit/>
          </a:bodyPr>
          <a:lstStyle/>
          <a:p>
            <a:pPr algn="l"/>
            <a:r>
              <a:rPr sz="1200" b="0">
                <a:solidFill>
                  <a:srgbClr val="6B7280"/>
                </a:solidFill>
                <a:latin typeface="Avenir Light"/>
              </a:rPr>
              <a:t>Source: results.csv, fig6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backup">
    <p:bg>
      <p:bgPr>
        <a:solidFill>
          <a:srgbClr val="FFFFFF"/>
        </a:solidFill>
        <a:effectLst/>
      </p:bgPr>
    </p:bg>
    <p:spTree>
      <p:nvGrpSpPr>
        <p:cNvPr id="1" name=""/>
        <p:cNvGrpSpPr/>
        <p:nvPr/>
      </p:nvGrpSpPr>
      <p:grpSpPr/>
      <p:sp>
        <p:nvSpPr>
          <p:cNvPr id="2" name="Title"/>
          <p:cNvSpPr>
            <a:spLocks noGrp="1"/>
          </p:cNvSpPr>
          <p:nvPr>
            <p:ph type="title"/>
          </p:nvPr>
        </p:nvSpPr>
        <p:spPr>
          <a:xfrm>
            <a:off x="731520" y="274320"/>
            <a:ext cx="10728655" cy="868680"/>
          </a:xfrm>
        </p:spPr>
        <p:txBody>
          <a:bodyPr wrap="square" anchor="t" lIns="0" rIns="0" tIns="0" bIns="0">
            <a:noAutofit/>
          </a:bodyPr>
          <a:lstStyle/>
          <a:p>
            <a:pPr algn="l"/>
            <a:r>
              <a:rPr sz="2800" b="0">
                <a:solidFill>
                  <a:srgbClr val="111111"/>
                </a:solidFill>
                <a:latin typeface="Avenir Light"/>
              </a:rPr>
              <a:t>Expression yield ranged from 9 to 44 mg/L across six designs</a:t>
            </a:r>
          </a:p>
        </p:txBody>
      </p:sp>
      <p:pic>
        <p:nvPicPr>
          <p:cNvPr id="3" name="Evidence picture" descr="Bar chart of the expression yield of six designs of the Heron set, from 9 mg/L for Design 5 to 44 mg/L for Design 4."/>
          <p:cNvPicPr>
            <a:picLocks noChangeAspect="1"/>
          </p:cNvPicPr>
          <p:nvPr/>
        </p:nvPicPr>
        <p:blipFill>
          <a:blip r:embed="rId2"/>
          <a:stretch>
            <a:fillRect/>
          </a:stretch>
        </p:blipFill>
        <p:spPr>
          <a:xfrm>
            <a:off x="731520" y="1372743"/>
            <a:ext cx="7040880" cy="4752594"/>
          </a:xfrm>
          <a:prstGeom prst="rect">
            <a:avLst/>
          </a:prstGeom>
        </p:spPr>
      </p:pic>
      <p:sp>
        <p:nvSpPr>
          <p:cNvPr id="4" name="Callout rule"/>
          <p:cNvSpPr/>
          <p:nvPr/>
        </p:nvSpPr>
        <p:spPr>
          <a:xfrm>
            <a:off x="8183879" y="1463040"/>
            <a:ext cx="27432" cy="1097280"/>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llout"/>
          <p:cNvSpPr txBox="1"/>
          <p:nvPr/>
        </p:nvSpPr>
        <p:spPr>
          <a:xfrm>
            <a:off x="8412479" y="1463040"/>
            <a:ext cx="3047696" cy="1097280"/>
          </a:xfrm>
          <a:prstGeom prst="rect">
            <a:avLst/>
          </a:prstGeom>
          <a:noFill/>
        </p:spPr>
        <p:txBody>
          <a:bodyPr wrap="square" anchor="t" lIns="0" rIns="0" tIns="0" bIns="0">
            <a:noAutofit/>
          </a:bodyPr>
          <a:lstStyle/>
          <a:p>
            <a:pPr algn="l"/>
            <a:r>
              <a:rPr sz="2000" b="0">
                <a:solidFill>
                  <a:srgbClr val="111111"/>
                </a:solidFill>
                <a:latin typeface="Avenir Light"/>
              </a:rPr>
              <a:t>Design 4: 44 mg/L</a:t>
            </a:r>
          </a:p>
        </p:txBody>
      </p:sp>
      <p:sp>
        <p:nvSpPr>
          <p:cNvPr id="6" name="Callout rule"/>
          <p:cNvSpPr/>
          <p:nvPr/>
        </p:nvSpPr>
        <p:spPr>
          <a:xfrm>
            <a:off x="8183879" y="2880360"/>
            <a:ext cx="27432" cy="1097280"/>
          </a:xfrm>
          <a:prstGeom prst="rect">
            <a:avLst/>
          </a:prstGeom>
          <a:solidFill>
            <a:srgbClr val="6D4B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allout"/>
          <p:cNvSpPr txBox="1"/>
          <p:nvPr/>
        </p:nvSpPr>
        <p:spPr>
          <a:xfrm>
            <a:off x="8412479" y="2880360"/>
            <a:ext cx="3047696" cy="1097280"/>
          </a:xfrm>
          <a:prstGeom prst="rect">
            <a:avLst/>
          </a:prstGeom>
          <a:noFill/>
        </p:spPr>
        <p:txBody>
          <a:bodyPr wrap="square" anchor="t" lIns="0" rIns="0" tIns="0" bIns="0">
            <a:noAutofit/>
          </a:bodyPr>
          <a:lstStyle/>
          <a:p>
            <a:pPr algn="l"/>
            <a:r>
              <a:rPr sz="2000" b="0">
                <a:solidFill>
                  <a:srgbClr val="111111"/>
                </a:solidFill>
                <a:latin typeface="Avenir Light"/>
              </a:rPr>
              <a:t>Design 5: 9 mg/L</a:t>
            </a:r>
          </a:p>
        </p:txBody>
      </p:sp>
      <p:sp>
        <p:nvSpPr>
          <p:cNvPr id="8" name="Source"/>
          <p:cNvSpPr txBox="1"/>
          <p:nvPr/>
        </p:nvSpPr>
        <p:spPr>
          <a:xfrm>
            <a:off x="731520" y="6355080"/>
            <a:ext cx="10728655" cy="274320"/>
          </a:xfrm>
          <a:prstGeom prst="rect">
            <a:avLst/>
          </a:prstGeom>
          <a:noFill/>
        </p:spPr>
        <p:txBody>
          <a:bodyPr wrap="square" anchor="t" lIns="0" rIns="0" tIns="0" bIns="0">
            <a:noAutofit/>
          </a:bodyPr>
          <a:lstStyle/>
          <a:p>
            <a:pPr algn="l"/>
            <a:r>
              <a:rPr sz="1200" b="0">
                <a:solidFill>
                  <a:srgbClr val="6B7280"/>
                </a:solidFill>
                <a:latin typeface="Avenir Light"/>
              </a:rPr>
              <a:t>Source: results.csv, fig5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Osprey score picks designs that bind Target T</dc:title>
  <dc:subject/>
  <dc:creator>A. Author</dc:creator>
  <cp:keywords/>
  <dc:description/>
  <cp:lastModifiedBy>A. Author</cp:lastModifiedBy>
  <cp:revision>1</cp:revision>
  <dcterms:created xsi:type="dcterms:W3CDTF">2026-10-21T11:02:50Z</dcterms:created>
  <dcterms:modified xsi:type="dcterms:W3CDTF">2026-10-21T11:02:50Z</dcterms:modified>
  <cp:category/>
</cp:coreProperties>
</file>