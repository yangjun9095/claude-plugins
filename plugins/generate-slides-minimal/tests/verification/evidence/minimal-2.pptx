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who you are and name the question of the study: does the Osprey score pick designs that bind Target T in the Kestrel assay? The project notes label every name and number as invented. Remove this line for a real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message aloud before you name the parts. Slides 3 to 8 hold the body of the talk. Backup slides follow the last slide, for questions about the assay and about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Kestrel assay reads the binding signal at 60 minutes. Each round holds 10 designs. Ask the room what hit rate they would accept before you show the later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Heron set holds 40 designs of a fictional peptide family. The team built it in four rounds of 10 designs. Each design passed the Mallard filter, so every score in the set is 4 or higher. The assay is a plate assay that reads the signal every 10 minutes for 60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team built the Heron set of 40 designs in four rounds. The study ran once, on one plate layout, so the rounds carry no replicate. Say so before a question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point is one design. The scatter is wide, so say that the score ranks designs and does not predict a signal. The top-scoring design gave 60.3 au, below the peak, and you should name it before a question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group holds 10 peptides per target. These peptides do not belong to the Heron set. Name the caveat: the control peptides were not matched to the designed peptides for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Filtered pipeline sits between the two, at 64 units. The project notes do not define the unit or the three pipelines. Define them aloud before you show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during questions. Say the claims in your own words. Each claim names its baseline, so a question about a number has an answer on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someone asks how the assay reads the signal. Each concentration has seven readings, one every 10 minutes. The signal of a design is the reading at 60 minutes. The 1 uM series read 27.7 au at 60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someone asks about length. The plot shows a wide spread at every length. Length may affect the designed against control comparison, because the control peptides were not matched for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1920240"/>
            <a:ext cx="10728655" cy="173736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400" b="0">
                <a:solidFill>
                  <a:srgbClr val="111111"/>
                </a:solidFill>
                <a:latin typeface="Avenir Light"/>
              </a:rPr>
              <a:t>The Osprey score picks designs that bind Target T</a:t>
            </a:r>
          </a:p>
        </p:txBody>
      </p:sp>
      <p:sp>
        <p:nvSpPr>
          <p:cNvPr id="3" name="Accent mark"/>
          <p:cNvSpPr/>
          <p:nvPr/>
        </p:nvSpPr>
        <p:spPr>
          <a:xfrm>
            <a:off x="731520" y="3840480"/>
            <a:ext cx="1280160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731520" y="4023360"/>
            <a:ext cx="1072865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A. Author</a:t>
            </a:r>
          </a:p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Example Lab</a:t>
            </a:r>
          </a:p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Osprey score picked designs that bound Target T: the hit rate rose from 20 percent to 70 percent across four rounds.</a:t>
            </a:r>
          </a:p>
        </p:txBody>
      </p:sp>
      <p:sp>
        <p:nvSpPr>
          <p:cNvPr id="3" name="Section mark"/>
          <p:cNvSpPr/>
          <p:nvPr/>
        </p:nvSpPr>
        <p:spPr>
          <a:xfrm>
            <a:off x="731520" y="2103120"/>
            <a:ext cx="2476423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name"/>
          <p:cNvSpPr txBox="1"/>
          <p:nvPr/>
        </p:nvSpPr>
        <p:spPr>
          <a:xfrm>
            <a:off x="731520" y="2331720"/>
            <a:ext cx="247642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>
                <a:solidFill>
                  <a:srgbClr val="6D4BD6"/>
                </a:solidFill>
                <a:latin typeface="Avenir Light"/>
              </a:rPr>
              <a:t>Need</a:t>
            </a:r>
          </a:p>
        </p:txBody>
      </p:sp>
      <p:sp>
        <p:nvSpPr>
          <p:cNvPr id="5" name="Section line"/>
          <p:cNvSpPr txBox="1"/>
          <p:nvPr/>
        </p:nvSpPr>
        <p:spPr>
          <a:xfrm>
            <a:off x="731520" y="3200399"/>
            <a:ext cx="2476423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The gap to close</a:t>
            </a:r>
          </a:p>
        </p:txBody>
      </p:sp>
      <p:sp>
        <p:nvSpPr>
          <p:cNvPr id="6" name="Section mark"/>
          <p:cNvSpPr/>
          <p:nvPr/>
        </p:nvSpPr>
        <p:spPr>
          <a:xfrm>
            <a:off x="3482263" y="2103120"/>
            <a:ext cx="2476423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 name"/>
          <p:cNvSpPr txBox="1"/>
          <p:nvPr/>
        </p:nvSpPr>
        <p:spPr>
          <a:xfrm>
            <a:off x="3482263" y="2331720"/>
            <a:ext cx="247642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>
                <a:solidFill>
                  <a:srgbClr val="6D4BD6"/>
                </a:solidFill>
                <a:latin typeface="Avenir Light"/>
              </a:rPr>
              <a:t>Approach</a:t>
            </a:r>
          </a:p>
        </p:txBody>
      </p:sp>
      <p:sp>
        <p:nvSpPr>
          <p:cNvPr id="8" name="Section line"/>
          <p:cNvSpPr txBox="1"/>
          <p:nvPr/>
        </p:nvSpPr>
        <p:spPr>
          <a:xfrm>
            <a:off x="3482263" y="3200399"/>
            <a:ext cx="2476423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Score and filter</a:t>
            </a:r>
          </a:p>
        </p:txBody>
      </p:sp>
      <p:sp>
        <p:nvSpPr>
          <p:cNvPr id="9" name="Section mark"/>
          <p:cNvSpPr/>
          <p:nvPr/>
        </p:nvSpPr>
        <p:spPr>
          <a:xfrm>
            <a:off x="6233006" y="2103120"/>
            <a:ext cx="2476423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ction name"/>
          <p:cNvSpPr txBox="1"/>
          <p:nvPr/>
        </p:nvSpPr>
        <p:spPr>
          <a:xfrm>
            <a:off x="6233006" y="2331720"/>
            <a:ext cx="247642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>
                <a:solidFill>
                  <a:srgbClr val="6D4BD6"/>
                </a:solidFill>
                <a:latin typeface="Avenir Light"/>
              </a:rPr>
              <a:t>Evidence</a:t>
            </a:r>
          </a:p>
        </p:txBody>
      </p:sp>
      <p:sp>
        <p:nvSpPr>
          <p:cNvPr id="11" name="Section line"/>
          <p:cNvSpPr txBox="1"/>
          <p:nvPr/>
        </p:nvSpPr>
        <p:spPr>
          <a:xfrm>
            <a:off x="6233006" y="3200399"/>
            <a:ext cx="2476423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Rounds, controls, cost</a:t>
            </a:r>
          </a:p>
        </p:txBody>
      </p:sp>
      <p:sp>
        <p:nvSpPr>
          <p:cNvPr id="12" name="Section mark"/>
          <p:cNvSpPr/>
          <p:nvPr/>
        </p:nvSpPr>
        <p:spPr>
          <a:xfrm>
            <a:off x="8983749" y="2103120"/>
            <a:ext cx="2476423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ction name"/>
          <p:cNvSpPr txBox="1"/>
          <p:nvPr/>
        </p:nvSpPr>
        <p:spPr>
          <a:xfrm>
            <a:off x="8983749" y="2331720"/>
            <a:ext cx="247642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>
                <a:solidFill>
                  <a:srgbClr val="6D4BD6"/>
                </a:solidFill>
                <a:latin typeface="Avenir Light"/>
              </a:rPr>
              <a:t>Take-homes</a:t>
            </a:r>
          </a:p>
        </p:txBody>
      </p:sp>
      <p:sp>
        <p:nvSpPr>
          <p:cNvPr id="14" name="Section line"/>
          <p:cNvSpPr txBox="1"/>
          <p:nvPr/>
        </p:nvSpPr>
        <p:spPr>
          <a:xfrm>
            <a:off x="8983749" y="3200399"/>
            <a:ext cx="2476423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Claims to keep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ig_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Only 20 percent of Round 1 designs bound Target T.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731520" y="182880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600" b="0">
                <a:solidFill>
                  <a:srgbClr val="6D4BD6"/>
                </a:solidFill>
                <a:latin typeface="Avenir Light"/>
              </a:rPr>
              <a:t>20%</a:t>
            </a:r>
          </a:p>
        </p:txBody>
      </p:sp>
      <p:sp>
        <p:nvSpPr>
          <p:cNvPr id="4" name="Number label"/>
          <p:cNvSpPr txBox="1"/>
          <p:nvPr/>
        </p:nvSpPr>
        <p:spPr>
          <a:xfrm>
            <a:off x="731520" y="3383279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hit rate in Round 1</a:t>
            </a:r>
          </a:p>
        </p:txBody>
      </p:sp>
      <p:sp>
        <p:nvSpPr>
          <p:cNvPr id="5" name="Divider"/>
          <p:cNvSpPr/>
          <p:nvPr/>
        </p:nvSpPr>
        <p:spPr>
          <a:xfrm>
            <a:off x="5943600" y="1920240"/>
            <a:ext cx="27432" cy="210312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seline"/>
          <p:cNvSpPr txBox="1"/>
          <p:nvPr/>
        </p:nvSpPr>
        <p:spPr>
          <a:xfrm>
            <a:off x="6263640" y="1920240"/>
            <a:ext cx="5196535" cy="2103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Baseline: a hit is 50 au or more.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results.csv, fig1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sertion_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Osprey score ranks each design before the assay.</a:t>
            </a:r>
          </a:p>
        </p:txBody>
      </p:sp>
      <p:graphicFrame>
        <p:nvGraphicFramePr>
          <p:cNvPr id="3" name="Evidence table"/>
          <p:cNvGraphicFramePr>
            <a:graphicFrameLocks noGrp="1"/>
          </p:cNvGraphicFramePr>
          <p:nvPr/>
        </p:nvGraphicFramePr>
        <p:xfrm>
          <a:off x="731520" y="1371600"/>
          <a:ext cx="7040880" cy="2057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64116"/>
                <a:gridCol w="4376764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Term</a:t>
                      </a:r>
                    </a:p>
                  </a:txBody>
                  <a:tcPr anchor="ctr" marL="109728" marR="109728">
                    <a:lnB w="19050">
                      <a:solidFill>
                        <a:srgbClr val="6D4B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Meaning</a:t>
                      </a:r>
                    </a:p>
                  </a:txBody>
                  <a:tcPr anchor="ctr" marL="109728" marR="109728">
                    <a:lnB w="19050">
                      <a:solidFill>
                        <a:srgbClr val="6D4BD6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Osprey score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Ranks a design, 0 to 10</a:t>
                      </a:r>
                    </a:p>
                  </a:txBody>
                  <a:tcPr anchor="ctr" marL="109728" marR="109728"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Mallard filter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Drops scores below 4</a:t>
                      </a:r>
                    </a:p>
                  </a:txBody>
                  <a:tcPr anchor="ctr" marL="109728" marR="109728">
                    <a:noFill/>
                  </a:tcPr>
                </a:tc>
              </a:tr>
            </a:tbl>
          </a:graphicData>
        </a:graphic>
      </p:graphicFrame>
      <p:sp>
        <p:nvSpPr>
          <p:cNvPr id="4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notes.md,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sertion_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hit rate rose from 20 percent in Round 1 to 70 percent in Round 4.</a:t>
            </a:r>
          </a:p>
        </p:txBody>
      </p:sp>
      <p:pic>
        <p:nvPicPr>
          <p:cNvPr id="3" name="Evidence picture" descr="Bar chart of the hit rate of four rounds of the Heron set: 20, 30, 50 and 70 perc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2743"/>
            <a:ext cx="7040880" cy="4752594"/>
          </a:xfrm>
          <a:prstGeom prst="rect">
            <a:avLst/>
          </a:prstGeom>
        </p:spPr>
      </p:pic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Round 4: 70 percent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results.csv, fig1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sertion_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Binding signal rose with the Osprey score across the 40 designs.</a:t>
            </a:r>
          </a:p>
        </p:txBody>
      </p:sp>
      <p:pic>
        <p:nvPicPr>
          <p:cNvPr id="3" name="Evidence picture" descr="Scatter plot of binding signal against Osprey score for 40 designs. The signal rises with the scor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2743"/>
            <a:ext cx="7040880" cy="4752594"/>
          </a:xfrm>
          <a:prstGeom prst="rect">
            <a:avLst/>
          </a:prstGeom>
        </p:spPr>
      </p:pic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Peak: 79.2 au at score 9.4</a:t>
            </a:r>
          </a:p>
        </p:txBody>
      </p:sp>
      <p:sp>
        <p:nvSpPr>
          <p:cNvPr id="6" name="Callout rule"/>
          <p:cNvSpPr/>
          <p:nvPr/>
        </p:nvSpPr>
        <p:spPr>
          <a:xfrm>
            <a:off x="8183879" y="288036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llout"/>
          <p:cNvSpPr txBox="1"/>
          <p:nvPr/>
        </p:nvSpPr>
        <p:spPr>
          <a:xfrm>
            <a:off x="8412479" y="288036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Highest score 9.9: 60.3 au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results.csv, fig3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sertion_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Designed peptides beat control peptides on all five targets.</a:t>
            </a:r>
          </a:p>
        </p:txBody>
      </p:sp>
      <p:pic>
        <p:nvPicPr>
          <p:cNvPr id="3" name="Evidence picture" descr="Paired bars of the hit rate of designed and control peptides on five targets. The designed bar is higher on each targe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2743"/>
            <a:ext cx="7040880" cy="4752594"/>
          </a:xfrm>
          <a:prstGeom prst="rect">
            <a:avLst/>
          </a:prstGeom>
        </p:spPr>
      </p:pic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Target C: 80 versus 10 percent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results.csv, fig2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sertion_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Batched pipeline cost 41 units per design against 100 for the Manual pipeline.</a:t>
            </a:r>
          </a:p>
        </p:txBody>
      </p:sp>
      <p:pic>
        <p:nvPicPr>
          <p:cNvPr id="3" name="Evidence picture" descr="Bar chart of the cost per design of three pipelines: Manual 100, Filtered 64 and Batched 41 unit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2743"/>
            <a:ext cx="7040880" cy="4752594"/>
          </a:xfrm>
          <a:prstGeom prst="rect">
            <a:avLst/>
          </a:prstGeom>
        </p:spPr>
      </p:pic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Batched: lowest cost, 41 units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results.csv, fig7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ake_ho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Three results support the message of this talk.</a:t>
            </a:r>
          </a:p>
        </p:txBody>
      </p:sp>
      <p:sp>
        <p:nvSpPr>
          <p:cNvPr id="3" name="Claim mark"/>
          <p:cNvSpPr/>
          <p:nvPr/>
        </p:nvSpPr>
        <p:spPr>
          <a:xfrm>
            <a:off x="731520" y="1755648"/>
            <a:ext cx="164592" cy="16459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aim"/>
          <p:cNvSpPr txBox="1"/>
          <p:nvPr/>
        </p:nvSpPr>
        <p:spPr>
          <a:xfrm>
            <a:off x="1143000" y="1645919"/>
            <a:ext cx="103171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The hit rate rose from 20 percent to 70 percent in four rounds.</a:t>
            </a:r>
          </a:p>
        </p:txBody>
      </p:sp>
      <p:sp>
        <p:nvSpPr>
          <p:cNvPr id="5" name="Baseline"/>
          <p:cNvSpPr txBox="1"/>
          <p:nvPr/>
        </p:nvSpPr>
        <p:spPr>
          <a:xfrm>
            <a:off x="1143000" y="2212848"/>
            <a:ext cx="10317175" cy="460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Round 1 gave 20 percent.</a:t>
            </a:r>
          </a:p>
        </p:txBody>
      </p:sp>
      <p:sp>
        <p:nvSpPr>
          <p:cNvPr id="6" name="Claim mark"/>
          <p:cNvSpPr/>
          <p:nvPr/>
        </p:nvSpPr>
        <p:spPr>
          <a:xfrm>
            <a:off x="731520" y="3084575"/>
            <a:ext cx="164592" cy="16459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aim"/>
          <p:cNvSpPr txBox="1"/>
          <p:nvPr/>
        </p:nvSpPr>
        <p:spPr>
          <a:xfrm>
            <a:off x="1143000" y="2974847"/>
            <a:ext cx="1031717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On Target C the designed set beat the control, 80 percent to 10 percent.</a:t>
            </a:r>
          </a:p>
        </p:txBody>
      </p:sp>
      <p:sp>
        <p:nvSpPr>
          <p:cNvPr id="8" name="Baseline"/>
          <p:cNvSpPr txBox="1"/>
          <p:nvPr/>
        </p:nvSpPr>
        <p:spPr>
          <a:xfrm>
            <a:off x="1143000" y="3907535"/>
            <a:ext cx="10317175" cy="460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The control reached 10 percent.</a:t>
            </a:r>
          </a:p>
        </p:txBody>
      </p:sp>
      <p:sp>
        <p:nvSpPr>
          <p:cNvPr id="9" name="Claim mark"/>
          <p:cNvSpPr/>
          <p:nvPr/>
        </p:nvSpPr>
        <p:spPr>
          <a:xfrm>
            <a:off x="731520" y="4779264"/>
            <a:ext cx="164592" cy="16459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aim"/>
          <p:cNvSpPr txBox="1"/>
          <p:nvPr/>
        </p:nvSpPr>
        <p:spPr>
          <a:xfrm>
            <a:off x="1143000" y="4669536"/>
            <a:ext cx="103171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The Batched pipeline cost 41 units per design.</a:t>
            </a:r>
          </a:p>
        </p:txBody>
      </p:sp>
      <p:sp>
        <p:nvSpPr>
          <p:cNvPr id="11" name="Baseline"/>
          <p:cNvSpPr txBox="1"/>
          <p:nvPr/>
        </p:nvSpPr>
        <p:spPr>
          <a:xfrm>
            <a:off x="1143000" y="5236463"/>
            <a:ext cx="10317175" cy="460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The Manual pipeline cost 100 units.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reference design gave a stronger signal at each higher concentration.</a:t>
            </a:r>
          </a:p>
        </p:txBody>
      </p:sp>
      <p:pic>
        <p:nvPicPr>
          <p:cNvPr id="3" name="Evidence picture" descr="Line chart of the binding signal over 60 minutes at three concentrations of a reference design. A higher concentration gives a higher signa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2743"/>
            <a:ext cx="7040880" cy="4752594"/>
          </a:xfrm>
          <a:prstGeom prst="rect">
            <a:avLst/>
          </a:prstGeom>
        </p:spPr>
      </p:pic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25 uM: 94.5 au at 60 min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results.csv, fig8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longest peptide gave 24.9 au and the shortest gave 60.6 au.</a:t>
            </a:r>
          </a:p>
        </p:txBody>
      </p:sp>
      <p:pic>
        <p:nvPicPr>
          <p:cNvPr id="3" name="Evidence picture" descr="Scatter plot of binding signal against peptide length for 40 designs, from 8 to 40 residu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2743"/>
            <a:ext cx="7040880" cy="4752594"/>
          </a:xfrm>
          <a:prstGeom prst="rect">
            <a:avLst/>
          </a:prstGeom>
        </p:spPr>
      </p:pic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Longest: 40 residues, 24.9 au</a:t>
            </a:r>
          </a:p>
        </p:txBody>
      </p:sp>
      <p:sp>
        <p:nvSpPr>
          <p:cNvPr id="6" name="Callout rule"/>
          <p:cNvSpPr/>
          <p:nvPr/>
        </p:nvSpPr>
        <p:spPr>
          <a:xfrm>
            <a:off x="8183879" y="288036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llout"/>
          <p:cNvSpPr txBox="1"/>
          <p:nvPr/>
        </p:nvSpPr>
        <p:spPr>
          <a:xfrm>
            <a:off x="8412479" y="288036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Shortest: 8 residues, 60.6 au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results.csv, fig4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Osprey score picks designs that bind Target T</dc:title>
  <dc:subject/>
  <dc:creator>A. Author</dc:creator>
  <cp:keywords/>
  <dc:description/>
  <cp:lastModifiedBy>A. Author</cp:lastModifiedBy>
  <cp:revision>1</cp:revision>
  <dcterms:created xsi:type="dcterms:W3CDTF">2026-10-21T11:03:17Z</dcterms:created>
  <dcterms:modified xsi:type="dcterms:W3CDTF">2026-10-21T11:03:17Z</dcterms:modified>
  <cp:category/>
</cp:coreProperties>
</file>