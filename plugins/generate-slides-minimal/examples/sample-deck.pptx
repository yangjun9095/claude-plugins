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5"/>
          <c:w val="0.868"/>
          <c:h val="0.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 h</c:v>
                </c:pt>
              </c:strCache>
            </c:strRef>
          </c:tx>
          <c:spPr>
            <a:ln w="31750">
              <a:solidFill>
                <a:srgbClr val="9CA3AF"/>
              </a:solidFill>
            </a:ln>
          </c:spPr>
          <c:marker>
            <c:symbol val="none"/>
          </c:marker>
          <c:dLbls>
            <c:dLbl>
              <c:idx val="4"/>
              <c:tx>
                <c:rich>
                  <a:bodyPr/>
                  <a:lstStyle/>
                  <a:p>
                    <a:pPr>
                      <a:defRPr sz="2000" b="0">
                        <a:solidFill>
                          <a:srgbClr val="111111"/>
                        </a:solidFill>
                        <a:latin typeface="Avenir Light"/>
                      </a:defRPr>
                    </a:pPr>
                    <a:r>
                      <a:rPr sz="2000" b="0">
                        <a:solidFill>
                          <a:srgbClr val="111111"/>
                        </a:solidFill>
                        <a:latin typeface="Avenir Light"/>
                      </a:rPr>
                      <a:t>8 h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Day 0</c:v>
                </c:pt>
                <c:pt idx="1">
                  <c:v>Day 5</c:v>
                </c:pt>
                <c:pt idx="2">
                  <c:v>Day 10</c:v>
                </c:pt>
                <c:pt idx="3">
                  <c:v>Day 15</c:v>
                </c:pt>
                <c:pt idx="4">
                  <c:v>Day 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4.1</c:v>
                </c:pt>
                <c:pt idx="2">
                  <c:v>6.3</c:v>
                </c:pt>
                <c:pt idx="3">
                  <c:v>8.2</c:v>
                </c:pt>
                <c:pt idx="4">
                  <c:v>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 h</c:v>
                </c:pt>
              </c:strCache>
            </c:strRef>
          </c:tx>
          <c:spPr>
            <a:ln w="31750">
              <a:solidFill>
                <a:srgbClr val="9CA3AF"/>
              </a:solidFill>
            </a:ln>
          </c:spPr>
          <c:marker>
            <c:symbol val="none"/>
          </c:marker>
          <c:dLbls>
            <c:dLbl>
              <c:idx val="4"/>
              <c:tx>
                <c:rich>
                  <a:bodyPr/>
                  <a:lstStyle/>
                  <a:p>
                    <a:pPr>
                      <a:defRPr sz="2000" b="0">
                        <a:solidFill>
                          <a:srgbClr val="111111"/>
                        </a:solidFill>
                        <a:latin typeface="Avenir Light"/>
                      </a:defRPr>
                    </a:pPr>
                    <a:r>
                      <a:rPr sz="2000" b="0">
                        <a:solidFill>
                          <a:srgbClr val="111111"/>
                        </a:solidFill>
                        <a:latin typeface="Avenir Light"/>
                      </a:rPr>
                      <a:t>12 h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Day 0</c:v>
                </c:pt>
                <c:pt idx="1">
                  <c:v>Day 5</c:v>
                </c:pt>
                <c:pt idx="2">
                  <c:v>Day 10</c:v>
                </c:pt>
                <c:pt idx="3">
                  <c:v>Day 15</c:v>
                </c:pt>
                <c:pt idx="4">
                  <c:v>Day 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2.0</c:v>
                </c:pt>
                <c:pt idx="1">
                  <c:v>4.4</c:v>
                </c:pt>
                <c:pt idx="2">
                  <c:v>7.0</c:v>
                </c:pt>
                <c:pt idx="3">
                  <c:v>9.4</c:v>
                </c:pt>
                <c:pt idx="4">
                  <c:v>11.5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16 h</c:v>
                </c:pt>
              </c:strCache>
            </c:strRef>
          </c:tx>
          <c:spPr>
            <a:ln w="63500">
              <a:solidFill>
                <a:srgbClr val="6D4BD6"/>
              </a:solidFill>
            </a:ln>
          </c:spPr>
          <c:marker>
            <c:symbol val="none"/>
          </c:marker>
          <c:dLbls>
            <c:dLbl>
              <c:idx val="4"/>
              <c:tx>
                <c:rich>
                  <a:bodyPr/>
                  <a:lstStyle/>
                  <a:p>
                    <a:pPr>
                      <a:defRPr sz="2000" b="0">
                        <a:solidFill>
                          <a:srgbClr val="6D4BD6"/>
                        </a:solidFill>
                        <a:latin typeface="Avenir Light"/>
                      </a:defRPr>
                    </a:pPr>
                    <a:r>
                      <a:rPr sz="2000" b="0">
                        <a:solidFill>
                          <a:srgbClr val="6D4BD6"/>
                        </a:solidFill>
                        <a:latin typeface="Avenir Light"/>
                      </a:rPr>
                      <a:t>16 h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Day 0</c:v>
                </c:pt>
                <c:pt idx="1">
                  <c:v>Day 5</c:v>
                </c:pt>
                <c:pt idx="2">
                  <c:v>Day 10</c:v>
                </c:pt>
                <c:pt idx="3">
                  <c:v>Day 15</c:v>
                </c:pt>
                <c:pt idx="4">
                  <c:v>Day 20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2.0</c:v>
                </c:pt>
                <c:pt idx="1">
                  <c:v>4.8</c:v>
                </c:pt>
                <c:pt idx="2">
                  <c:v>7.9</c:v>
                </c:pt>
                <c:pt idx="3">
                  <c:v>10.9</c:v>
                </c:pt>
                <c:pt idx="4">
                  <c:v>14.0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2000" b="0">
                <a:solidFill>
                  <a:srgbClr val="111111"/>
                </a:solidFill>
                <a:latin typeface="Avenir Ligh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000" b="0">
          <a:solidFill>
            <a:srgbClr val="111111"/>
          </a:solidFill>
          <a:latin typeface="Avenir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talk has four parts. First the need: indoor seedlings grow slowly. Then the approach, a trial with three schedules. Then the evidence from the height curves. Last, the results that you should take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need. A field plot gives seedlings 24 centimeters on day 20. The same seedlings indoors, with the usual eight hours of light, reach 10. Ask the room what a grower loses with that gap before you show the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bar is one day. The light is on for the shaded part. The 16-hour schedule is the new one, so it carries the accent color. We changed nothing else: each group has 30 seedlings in the same soil, with the same water and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groups start at 2 centimeters. The lines part by day 10, when the 16-hour group stands at 7.9 against 6.3 for the 8-hour group. On day 20 the order is clear. The curves show means, so say that the spread sits on the backup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Forty percent is 14 centimeters against 10. The 12-hour schedule gives 11.5, which is 15 percent. Name the baseline out loud, because a percentage means little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up during questions. Say the three claims in your own words. Each one names its baseline, so a question about a number has an answer on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someone asks about the spread. The standard deviation grows a little with the hours of light. Each group has 30 seedlings.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1920240"/>
            <a:ext cx="10728655" cy="173736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400" b="0">
                <a:solidFill>
                  <a:srgbClr val="111111"/>
                </a:solidFill>
                <a:latin typeface="Avenir Light"/>
              </a:rPr>
              <a:t>Seedlings grow faster under a 16-hour light schedule</a:t>
            </a:r>
          </a:p>
        </p:txBody>
      </p:sp>
      <p:sp>
        <p:nvSpPr>
          <p:cNvPr id="3" name="Accent mark"/>
          <p:cNvSpPr/>
          <p:nvPr/>
        </p:nvSpPr>
        <p:spPr>
          <a:xfrm>
            <a:off x="731520" y="3840480"/>
            <a:ext cx="1280160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"/>
          <p:cNvSpPr txBox="1"/>
          <p:nvPr/>
        </p:nvSpPr>
        <p:spPr>
          <a:xfrm>
            <a:off x="731520" y="4023360"/>
            <a:ext cx="1072865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Sample Author</a:t>
            </a:r>
          </a:p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Sample deck with made-up data</a:t>
            </a:r>
          </a:p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A longer light schedule raises seedling height in this made-up trial</a:t>
            </a:r>
          </a:p>
        </p:txBody>
      </p:sp>
      <p:sp>
        <p:nvSpPr>
          <p:cNvPr id="3" name="Section mark"/>
          <p:cNvSpPr/>
          <p:nvPr/>
        </p:nvSpPr>
        <p:spPr>
          <a:xfrm>
            <a:off x="731520" y="2103120"/>
            <a:ext cx="2476423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 name"/>
          <p:cNvSpPr txBox="1"/>
          <p:nvPr/>
        </p:nvSpPr>
        <p:spPr>
          <a:xfrm>
            <a:off x="731520" y="2331720"/>
            <a:ext cx="247642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0">
                <a:solidFill>
                  <a:srgbClr val="6D4BD6"/>
                </a:solidFill>
                <a:latin typeface="Avenir Light"/>
              </a:rPr>
              <a:t>Need</a:t>
            </a:r>
          </a:p>
        </p:txBody>
      </p:sp>
      <p:sp>
        <p:nvSpPr>
          <p:cNvPr id="5" name="Section line"/>
          <p:cNvSpPr txBox="1"/>
          <p:nvPr/>
        </p:nvSpPr>
        <p:spPr>
          <a:xfrm>
            <a:off x="731520" y="3200399"/>
            <a:ext cx="2476423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Indoor seedlings lag</a:t>
            </a:r>
          </a:p>
        </p:txBody>
      </p:sp>
      <p:sp>
        <p:nvSpPr>
          <p:cNvPr id="6" name="Section mark"/>
          <p:cNvSpPr/>
          <p:nvPr/>
        </p:nvSpPr>
        <p:spPr>
          <a:xfrm>
            <a:off x="3482263" y="2103120"/>
            <a:ext cx="2476423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 name"/>
          <p:cNvSpPr txBox="1"/>
          <p:nvPr/>
        </p:nvSpPr>
        <p:spPr>
          <a:xfrm>
            <a:off x="3482263" y="2331720"/>
            <a:ext cx="247642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0">
                <a:solidFill>
                  <a:srgbClr val="6D4BD6"/>
                </a:solidFill>
                <a:latin typeface="Avenir Light"/>
              </a:rPr>
              <a:t>Approach</a:t>
            </a:r>
          </a:p>
        </p:txBody>
      </p:sp>
      <p:sp>
        <p:nvSpPr>
          <p:cNvPr id="8" name="Section line"/>
          <p:cNvSpPr txBox="1"/>
          <p:nvPr/>
        </p:nvSpPr>
        <p:spPr>
          <a:xfrm>
            <a:off x="3482263" y="3200399"/>
            <a:ext cx="2476423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Three light schedules</a:t>
            </a:r>
          </a:p>
        </p:txBody>
      </p:sp>
      <p:sp>
        <p:nvSpPr>
          <p:cNvPr id="9" name="Section mark"/>
          <p:cNvSpPr/>
          <p:nvPr/>
        </p:nvSpPr>
        <p:spPr>
          <a:xfrm>
            <a:off x="6233006" y="2103120"/>
            <a:ext cx="2476423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ection name"/>
          <p:cNvSpPr txBox="1"/>
          <p:nvPr/>
        </p:nvSpPr>
        <p:spPr>
          <a:xfrm>
            <a:off x="6233006" y="2331720"/>
            <a:ext cx="247642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0">
                <a:solidFill>
                  <a:srgbClr val="6D4BD6"/>
                </a:solidFill>
                <a:latin typeface="Avenir Light"/>
              </a:rPr>
              <a:t>Evidence</a:t>
            </a:r>
          </a:p>
        </p:txBody>
      </p:sp>
      <p:sp>
        <p:nvSpPr>
          <p:cNvPr id="11" name="Section line"/>
          <p:cNvSpPr txBox="1"/>
          <p:nvPr/>
        </p:nvSpPr>
        <p:spPr>
          <a:xfrm>
            <a:off x="6233006" y="3200399"/>
            <a:ext cx="2476423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Height by day 20</a:t>
            </a:r>
          </a:p>
        </p:txBody>
      </p:sp>
      <p:sp>
        <p:nvSpPr>
          <p:cNvPr id="12" name="Section mark"/>
          <p:cNvSpPr/>
          <p:nvPr/>
        </p:nvSpPr>
        <p:spPr>
          <a:xfrm>
            <a:off x="8983749" y="2103120"/>
            <a:ext cx="2476423" cy="2743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ction name"/>
          <p:cNvSpPr txBox="1"/>
          <p:nvPr/>
        </p:nvSpPr>
        <p:spPr>
          <a:xfrm>
            <a:off x="8983749" y="2331720"/>
            <a:ext cx="247642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0">
                <a:solidFill>
                  <a:srgbClr val="6D4BD6"/>
                </a:solidFill>
                <a:latin typeface="Avenir Light"/>
              </a:rPr>
              <a:t>Take-homes</a:t>
            </a:r>
          </a:p>
        </p:txBody>
      </p:sp>
      <p:sp>
        <p:nvSpPr>
          <p:cNvPr id="14" name="Section line"/>
          <p:cNvSpPr txBox="1"/>
          <p:nvPr/>
        </p:nvSpPr>
        <p:spPr>
          <a:xfrm>
            <a:off x="8983749" y="3200399"/>
            <a:ext cx="2476423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Longer light helps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ssertion_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Indoor seedlings reach less than half the field height by day 20</a:t>
            </a:r>
          </a:p>
        </p:txBody>
      </p:sp>
      <p:graphicFrame>
        <p:nvGraphicFramePr>
          <p:cNvPr id="3" name="Evidence table"/>
          <p:cNvGraphicFramePr>
            <a:graphicFrameLocks noGrp="1"/>
          </p:cNvGraphicFramePr>
          <p:nvPr/>
        </p:nvGraphicFramePr>
        <p:xfrm>
          <a:off x="731520" y="1371600"/>
          <a:ext cx="7040880" cy="2057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27120"/>
                <a:gridCol w="341376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Setting</a:t>
                      </a:r>
                    </a:p>
                  </a:txBody>
                  <a:tcPr anchor="ctr" marL="109728" marR="109728">
                    <a:lnB w="19050">
                      <a:solidFill>
                        <a:srgbClr val="6D4B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Height on day 20</a:t>
                      </a:r>
                    </a:p>
                  </a:txBody>
                  <a:tcPr anchor="ctr" marL="109728" marR="109728">
                    <a:lnB w="19050">
                      <a:solidFill>
                        <a:srgbClr val="6D4BD6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Field plot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24 cm</a:t>
                      </a:r>
                    </a:p>
                  </a:txBody>
                  <a:tcPr anchor="ctr" marL="109728" marR="109728"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Indoor, 8 h light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10 cm</a:t>
                      </a:r>
                    </a:p>
                  </a:txBody>
                  <a:tcPr anchor="ctr" marL="109728" marR="109728">
                    <a:noFill/>
                  </a:tcPr>
                </a:tc>
              </a:tr>
            </a:tbl>
          </a:graphicData>
        </a:graphic>
      </p:graphicFrame>
      <p:sp>
        <p:nvSpPr>
          <p:cNvPr id="4" name="Callout rule"/>
          <p:cNvSpPr/>
          <p:nvPr/>
        </p:nvSpPr>
        <p:spPr>
          <a:xfrm>
            <a:off x="8183879" y="146304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"/>
          <p:cNvSpPr txBox="1"/>
          <p:nvPr/>
        </p:nvSpPr>
        <p:spPr>
          <a:xfrm>
            <a:off x="8412479" y="146304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A gap of 14 cm on day 20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Made-up data for this sample deck.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ssertion_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The trial compares three light schedules on 90 seedlings</a:t>
            </a:r>
          </a:p>
        </p:txBody>
      </p:sp>
      <p:pic>
        <p:nvPicPr>
          <p:cNvPr id="3" name="Evidence picture" descr="Three bars on a 24-hour axis show light on for 8, 12 and 16 hours. The 16-hour bar is purpl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040880" cy="4754880"/>
          </a:xfrm>
          <a:prstGeom prst="rect">
            <a:avLst/>
          </a:prstGeom>
        </p:spPr>
      </p:pic>
      <p:sp>
        <p:nvSpPr>
          <p:cNvPr id="4" name="Callout rule"/>
          <p:cNvSpPr/>
          <p:nvPr/>
        </p:nvSpPr>
        <p:spPr>
          <a:xfrm>
            <a:off x="8183879" y="146304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"/>
          <p:cNvSpPr txBox="1"/>
          <p:nvPr/>
        </p:nvSpPr>
        <p:spPr>
          <a:xfrm>
            <a:off x="8412479" y="146304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30 seedlings per schedule</a:t>
            </a:r>
          </a:p>
        </p:txBody>
      </p:sp>
      <p:sp>
        <p:nvSpPr>
          <p:cNvPr id="6" name="Callout rule"/>
          <p:cNvSpPr/>
          <p:nvPr/>
        </p:nvSpPr>
        <p:spPr>
          <a:xfrm>
            <a:off x="8183879" y="288036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llout"/>
          <p:cNvSpPr txBox="1"/>
          <p:nvPr/>
        </p:nvSpPr>
        <p:spPr>
          <a:xfrm>
            <a:off x="8412479" y="288036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Same soil, water and temperature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Made-up data for this sample deck.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ssertion_evid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The 16-hour schedule gives the tallest seedlings by day 20</a:t>
            </a:r>
          </a:p>
        </p:txBody>
      </p:sp>
      <p:graphicFrame>
        <p:nvGraphicFramePr>
          <p:cNvPr id="3" name="Evidence chart" descr="Line chart of mean seedling height from day 0 to day 20 for three light schedules. The 16-hour line ends highest, at 14 centimeters."/>
          <p:cNvGraphicFramePr>
            <a:graphicFrameLocks noGrp="1"/>
          </p:cNvGraphicFramePr>
          <p:nvPr/>
        </p:nvGraphicFramePr>
        <p:xfrm>
          <a:off x="731520" y="1371600"/>
          <a:ext cx="70408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allout rule"/>
          <p:cNvSpPr/>
          <p:nvPr/>
        </p:nvSpPr>
        <p:spPr>
          <a:xfrm>
            <a:off x="8183879" y="146304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"/>
          <p:cNvSpPr txBox="1"/>
          <p:nvPr/>
        </p:nvSpPr>
        <p:spPr>
          <a:xfrm>
            <a:off x="8412479" y="146304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Height in cm, mean of 30 seedlings</a:t>
            </a:r>
          </a:p>
        </p:txBody>
      </p:sp>
      <p:sp>
        <p:nvSpPr>
          <p:cNvPr id="6" name="Callout rule"/>
          <p:cNvSpPr/>
          <p:nvPr/>
        </p:nvSpPr>
        <p:spPr>
          <a:xfrm>
            <a:off x="8183879" y="2880360"/>
            <a:ext cx="27432" cy="109728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llout"/>
          <p:cNvSpPr txBox="1"/>
          <p:nvPr/>
        </p:nvSpPr>
        <p:spPr>
          <a:xfrm>
            <a:off x="8412479" y="2880360"/>
            <a:ext cx="304769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venir Light"/>
              </a:rPr>
              <a:t>The gap opens by day 10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Made-up data for this sample deck.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ig_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The 16-hour schedule adds 40 percent to the height on day 20</a:t>
            </a:r>
          </a:p>
        </p:txBody>
      </p:sp>
      <p:sp>
        <p:nvSpPr>
          <p:cNvPr id="3" name="Number"/>
          <p:cNvSpPr txBox="1"/>
          <p:nvPr/>
        </p:nvSpPr>
        <p:spPr>
          <a:xfrm>
            <a:off x="731520" y="182880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600" b="0">
                <a:solidFill>
                  <a:srgbClr val="6D4BD6"/>
                </a:solidFill>
                <a:latin typeface="Avenir Light"/>
              </a:rPr>
              <a:t>+40%</a:t>
            </a:r>
          </a:p>
        </p:txBody>
      </p:sp>
      <p:sp>
        <p:nvSpPr>
          <p:cNvPr id="4" name="Number label"/>
          <p:cNvSpPr txBox="1"/>
          <p:nvPr/>
        </p:nvSpPr>
        <p:spPr>
          <a:xfrm>
            <a:off x="731520" y="3383279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taller than the 8-hour schedule</a:t>
            </a:r>
          </a:p>
        </p:txBody>
      </p:sp>
      <p:sp>
        <p:nvSpPr>
          <p:cNvPr id="5" name="Divider"/>
          <p:cNvSpPr/>
          <p:nvPr/>
        </p:nvSpPr>
        <p:spPr>
          <a:xfrm>
            <a:off x="5943600" y="1920240"/>
            <a:ext cx="27432" cy="2103120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seline"/>
          <p:cNvSpPr txBox="1"/>
          <p:nvPr/>
        </p:nvSpPr>
        <p:spPr>
          <a:xfrm>
            <a:off x="6263640" y="1920240"/>
            <a:ext cx="5196535" cy="2103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Baseline: the 8-hour schedule, 10 cm on day 20.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Made-up data for this sample deck.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ake_ho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Longer light gave taller seedlings, and the gain grew with the hours</a:t>
            </a:r>
          </a:p>
        </p:txBody>
      </p:sp>
      <p:sp>
        <p:nvSpPr>
          <p:cNvPr id="3" name="Claim mark"/>
          <p:cNvSpPr/>
          <p:nvPr/>
        </p:nvSpPr>
        <p:spPr>
          <a:xfrm>
            <a:off x="731520" y="1755648"/>
            <a:ext cx="164592" cy="16459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aim"/>
          <p:cNvSpPr txBox="1"/>
          <p:nvPr/>
        </p:nvSpPr>
        <p:spPr>
          <a:xfrm>
            <a:off x="1143000" y="1645919"/>
            <a:ext cx="10317175" cy="1027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The 16-hour schedule raised height by 40 percent</a:t>
            </a:r>
          </a:p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Baseline: the 8-hour schedule, 10 cm on day 20</a:t>
            </a:r>
          </a:p>
        </p:txBody>
      </p:sp>
      <p:sp>
        <p:nvSpPr>
          <p:cNvPr id="5" name="Claim mark"/>
          <p:cNvSpPr/>
          <p:nvPr/>
        </p:nvSpPr>
        <p:spPr>
          <a:xfrm>
            <a:off x="731520" y="3084575"/>
            <a:ext cx="164592" cy="16459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aim"/>
          <p:cNvSpPr txBox="1"/>
          <p:nvPr/>
        </p:nvSpPr>
        <p:spPr>
          <a:xfrm>
            <a:off x="1143000" y="2974847"/>
            <a:ext cx="10317175" cy="1027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The 12-hour schedule raised height by 15 percent</a:t>
            </a:r>
          </a:p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Baseline: the same 8-hour schedule</a:t>
            </a:r>
          </a:p>
        </p:txBody>
      </p:sp>
      <p:sp>
        <p:nvSpPr>
          <p:cNvPr id="7" name="Claim mark"/>
          <p:cNvSpPr/>
          <p:nvPr/>
        </p:nvSpPr>
        <p:spPr>
          <a:xfrm>
            <a:off x="731520" y="4413504"/>
            <a:ext cx="164592" cy="164592"/>
          </a:xfrm>
          <a:prstGeom prst="rect">
            <a:avLst/>
          </a:prstGeom>
          <a:solidFill>
            <a:srgbClr val="6D4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aim"/>
          <p:cNvSpPr txBox="1"/>
          <p:nvPr/>
        </p:nvSpPr>
        <p:spPr>
          <a:xfrm>
            <a:off x="1143000" y="4303775"/>
            <a:ext cx="10317175" cy="1027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111111"/>
                </a:solidFill>
                <a:latin typeface="Avenir Light"/>
              </a:rPr>
              <a:t>The 16-hour group led by day 10, at 7.9 cm</a:t>
            </a:r>
          </a:p>
          <a:p>
            <a:pPr algn="l"/>
            <a:r>
              <a:rPr sz="2000" b="0">
                <a:solidFill>
                  <a:srgbClr val="6B7280"/>
                </a:solidFill>
                <a:latin typeface="Avenir Light"/>
              </a:rPr>
              <a:t>Baseline: the 8-hour group, 6.3 cm on day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ac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74320"/>
            <a:ext cx="10728655" cy="86868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>
                <a:solidFill>
                  <a:srgbClr val="111111"/>
                </a:solidFill>
                <a:latin typeface="Avenir Light"/>
              </a:rPr>
              <a:t>Mean height on day 20 rises with the hours of light</a:t>
            </a:r>
          </a:p>
        </p:txBody>
      </p:sp>
      <p:graphicFrame>
        <p:nvGraphicFramePr>
          <p:cNvPr id="3" name="Evidence table"/>
          <p:cNvGraphicFramePr>
            <a:graphicFrameLocks noGrp="1"/>
          </p:cNvGraphicFramePr>
          <p:nvPr/>
        </p:nvGraphicFramePr>
        <p:xfrm>
          <a:off x="731520" y="1371600"/>
          <a:ext cx="704088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77568"/>
                <a:gridCol w="2112264"/>
                <a:gridCol w="1642872"/>
                <a:gridCol w="1408176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Schedule</a:t>
                      </a:r>
                    </a:p>
                  </a:txBody>
                  <a:tcPr anchor="ctr" marL="109728" marR="109728">
                    <a:lnB w="19050">
                      <a:solidFill>
                        <a:srgbClr val="6D4B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Mean (cm)</a:t>
                      </a:r>
                    </a:p>
                  </a:txBody>
                  <a:tcPr anchor="ctr" marL="109728" marR="109728">
                    <a:lnB w="19050">
                      <a:solidFill>
                        <a:srgbClr val="6D4B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SD (cm)</a:t>
                      </a:r>
                    </a:p>
                  </a:txBody>
                  <a:tcPr anchor="ctr" marL="109728" marR="109728">
                    <a:lnB w="19050">
                      <a:solidFill>
                        <a:srgbClr val="6D4B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n</a:t>
                      </a:r>
                    </a:p>
                  </a:txBody>
                  <a:tcPr anchor="ctr" marL="109728" marR="109728">
                    <a:lnB w="19050">
                      <a:solidFill>
                        <a:srgbClr val="6D4BD6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8 h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10.0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1.1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30</a:t>
                      </a:r>
                    </a:p>
                  </a:txBody>
                  <a:tcPr anchor="ctr" marL="109728" marR="109728"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12 h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11.5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1.3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11111"/>
                          </a:solidFill>
                          <a:latin typeface="Avenir Light"/>
                        </a:rPr>
                        <a:t>30</a:t>
                      </a:r>
                    </a:p>
                  </a:txBody>
                  <a:tcPr anchor="ctr" marL="109728" marR="109728"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16 h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14.0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1.6</a:t>
                      </a:r>
                    </a:p>
                  </a:txBody>
                  <a:tcPr anchor="ctr" marL="109728" marR="109728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6D4BD6"/>
                          </a:solidFill>
                          <a:latin typeface="Avenir Light"/>
                        </a:rPr>
                        <a:t>30</a:t>
                      </a:r>
                    </a:p>
                  </a:txBody>
                  <a:tcPr anchor="ctr" marL="109728" marR="109728">
                    <a:noFill/>
                  </a:tcPr>
                </a:tc>
              </a:tr>
            </a:tbl>
          </a:graphicData>
        </a:graphic>
      </p:graphicFrame>
      <p:sp>
        <p:nvSpPr>
          <p:cNvPr id="4" name="Source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venir Light"/>
              </a:rPr>
              <a:t>Made-up data for this sample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deck of generate-slides-minimal</dc:title>
  <dc:subject/>
  <dc:creator>Sample Author</dc:creator>
  <cp:keywords/>
  <dc:description/>
  <cp:lastModifiedBy>Sample Author</cp:lastModifiedBy>
  <cp:revision>1</cp:revision>
  <dcterms:created xsi:type="dcterms:W3CDTF">2026-10-21T11:35:50Z</dcterms:created>
  <dcterms:modified xsi:type="dcterms:W3CDTF">2026-10-21T11:35:50Z</dcterms:modified>
  <cp:category/>
</cp:coreProperties>
</file>