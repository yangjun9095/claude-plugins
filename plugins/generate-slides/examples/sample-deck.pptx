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500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Sample Slide Deck — Default Style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0"/>
              </a:spcAft>
              <a:defRPr sz="2200" b="0">
                <a:solidFill>
                  <a:srgbClr val="000000"/>
                </a:solidFill>
                <a:latin typeface="Avenir Light"/>
              </a:defRPr>
            </a:pPr>
            <a:r>
              <a:t>Your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6B7280"/>
                </a:solidFill>
                <a:latin typeface="Avenir Light"/>
              </a:defRPr>
            </a:pPr>
            <a:r>
              <a:t>Organization / Lab /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70"/>
              </a:lnSpc>
              <a:spcAft>
                <a:spcPts val="0"/>
              </a:spcAft>
              <a:defRPr sz="1800" b="0">
                <a:solidFill>
                  <a:srgbClr val="6B7280"/>
                </a:solidFill>
                <a:latin typeface="Avenir Light"/>
              </a:defRPr>
            </a:pPr>
            <a: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Action titles state the takeaway as a sentence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5400"/>
          </a:xfrm>
          <a:prstGeom prst="rect">
            <a:avLst/>
          </a:prstGeom>
          <a:solidFill>
            <a:srgbClr val="03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Action titles: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every slide title is a complete sentence, not a topic label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Blue accent prefixes: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key terms are highlighted without using bold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venir Light"/>
              </a:rPr>
              <a:t>•  Simple bullets work too — just pass a plain string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No bold anywhere: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hierarchy comes from font size and spacing only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Customizable: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drop a slide-style.yaml in your project to override any setting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Figures are centered and auto-clamped to slide bounds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5400"/>
          </a:xfrm>
          <a:prstGeom prst="rect">
            <a:avLst/>
          </a:prstGeom>
          <a:solidFill>
            <a:srgbClr val="03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1371600"/>
            <a:ext cx="8229600" cy="4114800"/>
          </a:xfrm>
          <a:prstGeom prst="rect">
            <a:avLst/>
          </a:prstGeom>
          <a:solidFill>
            <a:srgbClr val="F0F4F8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301752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0"/>
              </a:spcAft>
              <a:defRPr sz="2200" b="0">
                <a:solidFill>
                  <a:srgbClr val="6B7280"/>
                </a:solidFill>
                <a:latin typeface="Avenir Light"/>
              </a:defRPr>
            </a:pPr>
            <a:r>
              <a:t>[Your figure here]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Figures are auto-scaled to never overflow slide edges. Supports PNG, JPG, and SVG.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Tables use light grey headers with no bold in any cell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5400"/>
          </a:xfrm>
          <a:prstGeom prst="rect">
            <a:avLst/>
          </a:prstGeom>
          <a:solidFill>
            <a:srgbClr val="03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1440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F1 Score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Runtime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Baseline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72.3%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12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Model 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85.1%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18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Model 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91.7%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0.90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24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94.2%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59669"/>
                          </a:solidFill>
                          <a:latin typeface="Avenir Light"/>
                        </a:defRPr>
                      </a:pPr>
                      <a:r>
                        <a:t>0.93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15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0"/>
              </a:spcAft>
              <a:defRPr sz="1400" b="0">
                <a:solidFill>
                  <a:srgbClr val="6B7280"/>
                </a:solidFill>
                <a:latin typeface="Avenir Light"/>
              </a:defRPr>
            </a:pPr>
            <a:r>
              <a:t>Green highlights call out best-in-class values. Red is available for negative values.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Code boxes and callout boxes provide structured emphasis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5400"/>
          </a:xfrm>
          <a:prstGeom prst="rect">
            <a:avLst/>
          </a:prstGeom>
          <a:solidFill>
            <a:srgbClr val="03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2560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74151"/>
                </a:solidFill>
                <a:latin typeface="PT Mono"/>
              </a:defRPr>
            </a:pPr>
            <a:r>
              <a:t># Code blocks use PT Mono on light grey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74151"/>
                </a:solidFill>
                <a:latin typeface="PT Mono"/>
              </a:defRPr>
            </a:pPr>
            <a:r>
              <a:t>from pptx_helpers import *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74151"/>
                </a:solidFill>
                <a:latin typeface="PT Mono"/>
              </a:defRPr>
            </a:pP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74151"/>
                </a:solidFill>
                <a:latin typeface="PT Mono"/>
              </a:defRPr>
            </a:pPr>
            <a:r>
              <a:t>prs = new_presentation()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74151"/>
                </a:solidFill>
                <a:latin typeface="PT Mono"/>
              </a:defRPr>
            </a:pPr>
            <a:r>
              <a:t>slide = add_blank_slide(prs)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74151"/>
                </a:solidFill>
                <a:latin typeface="PT Mono"/>
              </a:defRPr>
            </a:pPr>
            <a:r>
              <a:t>add_slide_title(slide, 'My title')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74151"/>
                </a:solidFill>
                <a:latin typeface="PT Mono"/>
              </a:defRPr>
            </a:pPr>
            <a:r>
              <a:t>add_bullets(slide, LEFT_MARGIN, ...)</a:t>
            </a:r>
          </a:p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374151"/>
                </a:solidFill>
                <a:latin typeface="PT Mono"/>
              </a:defRPr>
            </a:pPr>
            <a:r>
              <a:t>prs.save('output.pptx')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029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800" b="0">
                <a:solidFill>
                  <a:srgbClr val="036DEA"/>
                </a:solidFill>
                <a:latin typeface="Avenir Light"/>
              </a:rPr>
              <a:t>Takeaway: </a:t>
            </a:r>
            <a:r>
              <a:rPr sz="1800" b="0">
                <a:solidFill>
                  <a:srgbClr val="000000"/>
                </a:solidFill>
                <a:latin typeface="Avenir Light"/>
              </a:rPr>
              <a:t>callout boxes highlight key messages with a clean white background and thin border.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0175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00"/>
              </a:lnSpc>
              <a:spcAft>
                <a:spcPts val="0"/>
              </a:spcAft>
              <a:defRPr sz="2000" b="0">
                <a:solidFill>
                  <a:srgbClr val="6B7280"/>
                </a:solidFill>
                <a:latin typeface="Avenir Light"/>
              </a:defRPr>
            </a:pPr>
            <a:r>
              <a:t>Both elements are available as</a:t>
            </a:r>
            <a:br/>
            <a:r>
              <a:t>helper functions in pptx_helpers.py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Side-by-side layouts compare results or show figure + 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5400"/>
          </a:xfrm>
          <a:prstGeom prst="rect">
            <a:avLst/>
          </a:prstGeom>
          <a:solidFill>
            <a:srgbClr val="03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solidFill>
            <a:srgbClr val="F0F4F8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29260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0"/>
              </a:spcAft>
              <a:defRPr sz="2200" b="0">
                <a:solidFill>
                  <a:srgbClr val="6B7280"/>
                </a:solidFill>
                <a:latin typeface="Avenir Light"/>
              </a:defRPr>
            </a:pPr>
            <a:r>
              <a:t>[Figure / Chart]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Left panel: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figure or chart occupies ~half the slide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Right panel: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interpretation bullets summarize the finding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00000"/>
                </a:solidFill>
                <a:latin typeface="Avenir Light"/>
              </a:rPr>
              <a:t>•  This layout works well for results slides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Tip: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keep to 3-4 bullets beside a figure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5400"/>
          </a:xfrm>
          <a:prstGeom prst="rect">
            <a:avLst/>
          </a:prstGeom>
          <a:solidFill>
            <a:srgbClr val="03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1.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Action titles make every slide self-contained and scannable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2.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Blue accent prefixes replace bold for clean visual hierarchy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3.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The style is fully customizable via slide-style.yaml</a:t>
            </a:r>
          </a:p>
          <a:p>
            <a:pPr algn="l">
              <a:lnSpc>
                <a:spcPts val="2529"/>
              </a:lnSpc>
              <a:spcAft>
                <a:spcPts val="800"/>
              </a:spcAft>
            </a:pPr>
            <a:r>
              <a:rPr sz="2200" b="0" i="0">
                <a:solidFill>
                  <a:srgbClr val="036DEA"/>
                </a:solidFill>
                <a:latin typeface="Avenir Light"/>
              </a:rPr>
              <a:t>•  4. </a:t>
            </a:r>
            <a:r>
              <a:rPr sz="2200" b="0" i="0">
                <a:solidFill>
                  <a:srgbClr val="000000"/>
                </a:solidFill>
                <a:latin typeface="Avenir Light"/>
              </a:rPr>
              <a:t>End with Conclusions, not 'Thank You' — this slide stays up during Q&amp;A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0"/>
              </a:spcAft>
              <a:defRPr sz="2800" b="0">
                <a:solidFill>
                  <a:srgbClr val="000000"/>
                </a:solidFill>
                <a:latin typeface="Avenir Light"/>
              </a:defRPr>
            </a:pPr>
            <a:r>
              <a:t>Supplementary: full style configuration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25400"/>
          </a:xfrm>
          <a:prstGeom prst="rect">
            <a:avLst/>
          </a:prstGeom>
          <a:solidFill>
            <a:srgbClr val="036D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371600"/>
          <a:ext cx="9144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  <a:gridCol w="3048000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Setting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Default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000000"/>
                          </a:solidFill>
                          <a:latin typeface="Avenir Light"/>
                        </a:defRPr>
                      </a:pPr>
                      <a:r>
                        <a:t>Override via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Font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Avenir Light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typography.body_font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Code font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PT Mono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typography.code_font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Accent color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#036DEA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colors.accent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Bold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Never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style.use_bold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Bullet emphasis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Blue prefix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style.bullet_emphasis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Callout bg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White + border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style.callout_bg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Title slide bg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White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0">
                          <a:solidFill>
                            <a:srgbClr val="374151"/>
                          </a:solidFill>
                          <a:latin typeface="Avenir Light"/>
                        </a:defRPr>
                      </a:pPr>
                      <a:r>
                        <a:t>style.title_slide_bg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